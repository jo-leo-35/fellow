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【讓每一個孩子，都能安心學習｜10 秒】
口播：
Fellow 學伴，用 AI 連結學生家庭、教師與政府，讓孩子找到幫得上忙的下一步。
畫面與操作：
0:00 出現主標；口播時指向 AI 中央與三方節點。10 秒後切換。此頁與第六頁的三方圖前後呼應。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【不是孩子不想學｜20 秒】
口播：
颱風毀了家裡的收成，孩子擔心收入，課也聽不進去。老師看見他分心，卻未必知道原因；政府有補助，家庭卻不知道怎麼找。教育問題背後，常常還有一道生活的難題。
畫面與操作：
以家庭、教師、政府順序帶過三個斷點。停在底部系統缺口句。情境為敘事案例，不宣稱真實事件或統計。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【讓學生敢問，也讓 AI 聽懂｜25 秒】
口播：
先從孩子熟悉的提問開始。選一個主題，說出哪裡不懂，學伴就用分步解釋和互動動畫，讓抽象概念變得看得見。透過任務編排，依情境安排解釋、教材和視覺化，也為理解孩子的其他需要，打開入口。
畫面與操作：
影片預留框：左 0.66、上 1.88、寬 9.15、高 5.145 英吋（16:9）。目前放置三張真實截圖作靜態分鏡；插入影片後覆蓋整個框。25 秒影片：首頁 3 秒 → 選牛頓力學 4 秒 → 提問 4 秒 → 分步解釋 6 秒 → 拖曳 F/m 動畫 8 秒。
錄影參考路徑：/index.html → /learning-chat.html。
示範口徑：
截圖採 offline_demo 離線情境回應與互動模擬，不呼叫外部 AI 模型。Prompt Engineering / Harness Engineering 是系統的任務編排設計；Strong AI Model 即時生成動畫或更多教材為可擴充方向，不能把預製模擬宣稱為現場生成。學生端理解需求是任務分類與澄清，非心理診斷。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【有些學習問題，不能只靠補習解決｜20 秒】
口播：
如果孩子說：颱風後，家裡收成變差，我很擔心爸媽。學伴就協助釐清農損與經濟需求，整理可能的資源、待確認的資格，以及可以求助的窗口。讓孩子能和家長一起，踏出求助的下一步。
畫面與操作：
影片預留框：左 0.66、上 1.88、寬 9.15、高 5.145 英吋（16:9）。20 秒：顯示孩子提問 5 秒 → AI 辨識農損需求 4 秒 → 資源卡資格／文件 6 秒 → 聯絡窗口／下一步 5 秒。
參考路徑：/resource-chat.html?category=agriculture。先準備好回應，避免台上等待生成。
示範口徑：
政策為原創示範資料，非即時政府公告，也非資格核定。這段展示求助路徑，沒有宣稱補助已核發。資源抵達家庭、降低焦慮與回到學習是服務目標。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【老師需要更早知道，誰需要幫助｜20 秒】
口播：
老師這一端，零散提問變成班級卡點、學習趨勢，以及需要關注的學生。老師可以調整教學，也能更早主動關心。家庭需求的下一步，是設計經同意的關懷轉介。
畫面與操作：
影片預留框：左 0.66、上 1.88、寬 9.15、高 5.145 英吋（16:9）。20 秒：總覽 4 秒 → 班級共同卡點 5 秒 → 需關注學生 5 秒 → 學習洞察／安排複習 6 秒。
路徑：/teacher.html。畫面數字與姓名均為 Demo 資料。
示範口徑：
需關注狀態来自練習等學習訊號，非 AI 判定家庭／心理高風險。現有教師端不讀家庭資源細節。經同意轉介明確標為設計方向；由教師與窗口決定適當協助。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【從區域需求，到資源回到家庭｜25 秒】
口播：
政府看到的，是匿名聚合後的區域需求。當某地農損與經濟求助增加，就能成為主動了解、調整服務的線索。我們要把需求接到窗口，再把資源帶回家庭。讓資源找到孩子，而不是讓孩子自己尋找資源。
畫面與操作：
1:35–1:50：政府 Demo，指向問題類型、地圖與需求變化。影片主框：左 0.65、上 2.29、寬 8.64、高 3.96 英吋；建議錄影輸出 1920×880 並保留完整內容，不拉伸16:9影片。
1:50–2:00：停在三方連結圖，用手勢沿政府 → 學生／家庭箭頭，講完資源回流與 Closing。
路徑：/government.html；可以切地區分析或趨勢洞察，回到總覽收尾。
示範口徑：
政府看不到學生私密對話，僅看匿名化聚合。截圖是高雄六區示範資料，不代表真實颱風後統計。資源回到家庭、改善壓力與安心學習是系統目標，目前 Demo 不證明服務轉介或補助核發已完成。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1"/>
          <p:cNvSpPr/>
          <p:nvPr/>
        </p:nvSpPr>
        <p:spPr>
          <a:xfrm>
            <a:off x="603504" y="292608"/>
            <a:ext cx="0" cy="219456"/>
          </a:xfrm>
          <a:prstGeom prst="line">
            <a:avLst/>
          </a:prstGeom>
          <a:noFill/>
          <a:ln w="20320">
            <a:solidFill>
              <a:srgbClr val="74DCC5"/>
            </a:solidFill>
            <a:prstDash val="solid"/>
          </a:ln>
        </p:spPr>
      </p:sp>
      <p:sp>
        <p:nvSpPr>
          <p:cNvPr id="3" name="Connector 2"/>
          <p:cNvSpPr/>
          <p:nvPr/>
        </p:nvSpPr>
        <p:spPr>
          <a:xfrm flipH="1" flipV="1">
            <a:off x="502920" y="301752"/>
            <a:ext cx="100584" cy="73152"/>
          </a:xfrm>
          <a:prstGeom prst="line">
            <a:avLst/>
          </a:prstGeom>
          <a:noFill/>
          <a:ln w="20320">
            <a:solidFill>
              <a:srgbClr val="74DCC5"/>
            </a:solidFill>
            <a:prstDash val="solid"/>
          </a:ln>
        </p:spPr>
      </p:sp>
      <p:sp>
        <p:nvSpPr>
          <p:cNvPr id="4" name="Connector 3"/>
          <p:cNvSpPr/>
          <p:nvPr/>
        </p:nvSpPr>
        <p:spPr>
          <a:xfrm flipV="1">
            <a:off x="603504" y="265176"/>
            <a:ext cx="118872" cy="109728"/>
          </a:xfrm>
          <a:prstGeom prst="line">
            <a:avLst/>
          </a:prstGeom>
          <a:noFill/>
          <a:ln w="20320">
            <a:solidFill>
              <a:srgbClr val="74DCC5"/>
            </a:solidFill>
            <a:prstDash val="solid"/>
          </a:ln>
        </p:spPr>
      </p:sp>
      <p:sp>
        <p:nvSpPr>
          <p:cNvPr id="5" name="Circle 4"/>
          <p:cNvSpPr/>
          <p:nvPr/>
        </p:nvSpPr>
        <p:spPr>
          <a:xfrm>
            <a:off x="466344" y="246888"/>
            <a:ext cx="100584" cy="100584"/>
          </a:xfrm>
          <a:prstGeom prst="ellipse">
            <a:avLst/>
          </a:prstGeom>
          <a:solidFill>
            <a:srgbClr val="74DCC5"/>
          </a:solidFill>
          <a:ln w="12700">
            <a:solidFill>
              <a:srgbClr val="74DCC5"/>
            </a:solidFill>
            <a:prstDash val="solid"/>
          </a:ln>
        </p:spPr>
      </p:sp>
      <p:sp>
        <p:nvSpPr>
          <p:cNvPr id="6" name="Circle 5"/>
          <p:cNvSpPr/>
          <p:nvPr/>
        </p:nvSpPr>
        <p:spPr>
          <a:xfrm>
            <a:off x="685800" y="210312"/>
            <a:ext cx="109728" cy="109728"/>
          </a:xfrm>
          <a:prstGeom prst="ellipse">
            <a:avLst/>
          </a:prstGeom>
          <a:solidFill>
            <a:srgbClr val="74DCC5"/>
          </a:solidFill>
          <a:ln w="12700">
            <a:solidFill>
              <a:srgbClr val="74DCC5"/>
            </a:solidFill>
            <a:prstDash val="solid"/>
          </a:ln>
        </p:spPr>
      </p:sp>
      <p:sp>
        <p:nvSpPr>
          <p:cNvPr id="7" name="Text 6"/>
          <p:cNvSpPr/>
          <p:nvPr/>
        </p:nvSpPr>
        <p:spPr>
          <a:xfrm>
            <a:off x="841248" y="2011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Fellow 學伴</a:t>
            </a:r>
            <a:endParaRPr lang="zh-TW" sz="1300" dirty="0"/>
          </a:p>
        </p:txBody>
      </p:sp>
      <p:sp>
        <p:nvSpPr>
          <p:cNvPr id="8" name="Text 7"/>
          <p:cNvSpPr/>
          <p:nvPr/>
        </p:nvSpPr>
        <p:spPr>
          <a:xfrm>
            <a:off x="2441448" y="22860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920" spc="125" kern="0" dirty="0">
                <a:solidFill>
                  <a:srgbClr val="ADC5C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EDUCATION × SOCIAL IMPACT × AI</a:t>
            </a:r>
            <a:endParaRPr lang="zh-TW" sz="920" dirty="0"/>
          </a:p>
        </p:txBody>
      </p:sp>
      <p:sp>
        <p:nvSpPr>
          <p:cNvPr id="9" name="Text 8"/>
          <p:cNvSpPr/>
          <p:nvPr/>
        </p:nvSpPr>
        <p:spPr>
          <a:xfrm>
            <a:off x="10744200" y="228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920" dirty="0">
                <a:solidFill>
                  <a:srgbClr val="ADC5C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 / 06</a:t>
            </a:r>
            <a:endParaRPr lang="zh-TW" sz="920" dirty="0"/>
          </a:p>
        </p:txBody>
      </p:sp>
      <p:sp>
        <p:nvSpPr>
          <p:cNvPr id="10" name="Circle 9"/>
          <p:cNvSpPr/>
          <p:nvPr/>
        </p:nvSpPr>
        <p:spPr>
          <a:xfrm>
            <a:off x="7251192" y="1133856"/>
            <a:ext cx="4261104" cy="4261104"/>
          </a:xfrm>
          <a:prstGeom prst="ellipse">
            <a:avLst/>
          </a:prstGeom>
          <a:solidFill>
            <a:srgbClr val="102E38"/>
          </a:solidFill>
          <a:ln w="8890">
            <a:solidFill>
              <a:srgbClr val="31545B"/>
            </a:solidFill>
            <a:prstDash val="solid"/>
          </a:ln>
        </p:spPr>
      </p:sp>
      <p:sp>
        <p:nvSpPr>
          <p:cNvPr id="11" name="Circle 10"/>
          <p:cNvSpPr/>
          <p:nvPr/>
        </p:nvSpPr>
        <p:spPr>
          <a:xfrm>
            <a:off x="7763256" y="1645920"/>
            <a:ext cx="3236976" cy="3236976"/>
          </a:xfrm>
          <a:prstGeom prst="ellipse">
            <a:avLst/>
          </a:prstGeom>
          <a:solidFill>
            <a:srgbClr val="102E38"/>
          </a:solidFill>
          <a:ln w="6350">
            <a:solidFill>
              <a:srgbClr val="31545B"/>
            </a:solidFill>
            <a:prstDash val="solid"/>
          </a:ln>
        </p:spPr>
      </p:sp>
      <p:sp>
        <p:nvSpPr>
          <p:cNvPr id="12" name="Text 11"/>
          <p:cNvSpPr/>
          <p:nvPr/>
        </p:nvSpPr>
        <p:spPr>
          <a:xfrm>
            <a:off x="640080" y="1837944"/>
            <a:ext cx="6492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4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讓每一個孩子，</a:t>
            </a:r>
            <a:endParaRPr lang="zh-TW" sz="4100" dirty="0"/>
          </a:p>
        </p:txBody>
      </p:sp>
      <p:sp>
        <p:nvSpPr>
          <p:cNvPr id="13" name="Text 12"/>
          <p:cNvSpPr/>
          <p:nvPr/>
        </p:nvSpPr>
        <p:spPr>
          <a:xfrm>
            <a:off x="640080" y="2724912"/>
            <a:ext cx="6492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4600" b="1" dirty="0">
                <a:solidFill>
                  <a:srgbClr val="74DCC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都能安心學習</a:t>
            </a:r>
            <a:endParaRPr lang="zh-TW" sz="4600" dirty="0"/>
          </a:p>
        </p:txBody>
      </p:sp>
      <p:sp>
        <p:nvSpPr>
          <p:cNvPr id="14" name="Text 13"/>
          <p:cNvSpPr/>
          <p:nvPr/>
        </p:nvSpPr>
        <p:spPr>
          <a:xfrm>
            <a:off x="676656" y="3877056"/>
            <a:ext cx="5806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900" dirty="0">
                <a:solidFill>
                  <a:srgbClr val="D4E5E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 AI 連結學生、教師與政府，</a:t>
            </a:r>
            <a:endParaRPr lang="zh-TW" sz="1900" dirty="0"/>
          </a:p>
          <a:p>
            <a:pPr indent="0" marL="0">
              <a:buNone/>
            </a:pPr>
            <a:r>
              <a:rPr lang="zh-TW" altLang="en-US" sz="1900" dirty="0">
                <a:solidFill>
                  <a:srgbClr val="D4E5E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讓教育資源真正抵達需要的人。</a:t>
            </a:r>
            <a:endParaRPr lang="zh-TW" sz="1900" dirty="0"/>
          </a:p>
        </p:txBody>
      </p:sp>
      <p:sp>
        <p:nvSpPr>
          <p:cNvPr id="15" name="Text 14"/>
          <p:cNvSpPr/>
          <p:nvPr/>
        </p:nvSpPr>
        <p:spPr>
          <a:xfrm>
            <a:off x="676656" y="521208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30" dirty="0">
                <a:solidFill>
                  <a:srgbClr val="A7C1C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AI-powered Rural Education Support System</a:t>
            </a:r>
            <a:endParaRPr lang="zh-TW" sz="1130" dirty="0"/>
          </a:p>
        </p:txBody>
      </p:sp>
      <p:sp>
        <p:nvSpPr>
          <p:cNvPr id="16" name="Connector 15"/>
          <p:cNvSpPr/>
          <p:nvPr/>
        </p:nvSpPr>
        <p:spPr>
          <a:xfrm flipH="1">
            <a:off x="7872984" y="2029968"/>
            <a:ext cx="1508760" cy="2642616"/>
          </a:xfrm>
          <a:prstGeom prst="line">
            <a:avLst/>
          </a:prstGeom>
          <a:noFill/>
          <a:ln w="16510">
            <a:solidFill>
              <a:srgbClr val="10AD9C"/>
            </a:solidFill>
            <a:prstDash val="solid"/>
          </a:ln>
        </p:spPr>
      </p:sp>
      <p:sp>
        <p:nvSpPr>
          <p:cNvPr id="17" name="Connector 16"/>
          <p:cNvSpPr/>
          <p:nvPr/>
        </p:nvSpPr>
        <p:spPr>
          <a:xfrm>
            <a:off x="7872984" y="4672584"/>
            <a:ext cx="3054096" cy="0"/>
          </a:xfrm>
          <a:prstGeom prst="line">
            <a:avLst/>
          </a:prstGeom>
          <a:noFill/>
          <a:ln w="16510">
            <a:solidFill>
              <a:srgbClr val="10AD9C"/>
            </a:solidFill>
            <a:prstDash val="solid"/>
          </a:ln>
        </p:spPr>
      </p:sp>
      <p:sp>
        <p:nvSpPr>
          <p:cNvPr id="18" name="Connector 17"/>
          <p:cNvSpPr/>
          <p:nvPr/>
        </p:nvSpPr>
        <p:spPr>
          <a:xfrm flipH="1" flipV="1">
            <a:off x="9381744" y="2029968"/>
            <a:ext cx="1545336" cy="2642616"/>
          </a:xfrm>
          <a:prstGeom prst="line">
            <a:avLst/>
          </a:prstGeom>
          <a:noFill/>
          <a:ln w="16510">
            <a:solidFill>
              <a:srgbClr val="10AD9C"/>
            </a:solidFill>
            <a:prstDash val="solid"/>
          </a:ln>
        </p:spPr>
      </p:sp>
      <p:sp>
        <p:nvSpPr>
          <p:cNvPr id="19" name="Connector 18"/>
          <p:cNvSpPr/>
          <p:nvPr/>
        </p:nvSpPr>
        <p:spPr>
          <a:xfrm flipV="1">
            <a:off x="9381744" y="2029968"/>
            <a:ext cx="0" cy="1499616"/>
          </a:xfrm>
          <a:prstGeom prst="line">
            <a:avLst/>
          </a:prstGeom>
          <a:noFill/>
          <a:ln w="15240">
            <a:solidFill>
              <a:srgbClr val="74DCC5"/>
            </a:solidFill>
            <a:prstDash val="solid"/>
          </a:ln>
        </p:spPr>
      </p:sp>
      <p:sp>
        <p:nvSpPr>
          <p:cNvPr id="20" name="Connector 19"/>
          <p:cNvSpPr/>
          <p:nvPr/>
        </p:nvSpPr>
        <p:spPr>
          <a:xfrm flipH="1">
            <a:off x="7872984" y="3529584"/>
            <a:ext cx="1508760" cy="1143000"/>
          </a:xfrm>
          <a:prstGeom prst="line">
            <a:avLst/>
          </a:prstGeom>
          <a:noFill/>
          <a:ln w="15240">
            <a:solidFill>
              <a:srgbClr val="74DCC5"/>
            </a:solidFill>
            <a:prstDash val="solid"/>
          </a:ln>
        </p:spPr>
      </p:sp>
      <p:sp>
        <p:nvSpPr>
          <p:cNvPr id="21" name="Connector 20"/>
          <p:cNvSpPr/>
          <p:nvPr/>
        </p:nvSpPr>
        <p:spPr>
          <a:xfrm>
            <a:off x="9381744" y="3529584"/>
            <a:ext cx="1545336" cy="1143000"/>
          </a:xfrm>
          <a:prstGeom prst="line">
            <a:avLst/>
          </a:prstGeom>
          <a:noFill/>
          <a:ln w="15240">
            <a:solidFill>
              <a:srgbClr val="74DCC5"/>
            </a:solidFill>
            <a:prstDash val="solid"/>
          </a:ln>
        </p:spPr>
      </p:sp>
      <p:sp>
        <p:nvSpPr>
          <p:cNvPr id="22" name="Shape 21"/>
          <p:cNvSpPr/>
          <p:nvPr/>
        </p:nvSpPr>
        <p:spPr>
          <a:xfrm>
            <a:off x="8238744" y="1344168"/>
            <a:ext cx="2286000" cy="850392"/>
          </a:xfrm>
          <a:prstGeom prst="roundRect">
            <a:avLst>
              <a:gd name="adj" fmla="val 16129"/>
            </a:avLst>
          </a:prstGeom>
          <a:solidFill>
            <a:srgbClr val="1A4048"/>
          </a:solidFill>
          <a:ln w="10160">
            <a:solidFill>
              <a:srgbClr val="31545B"/>
            </a:solidFill>
            <a:prstDash val="solid"/>
          </a:ln>
        </p:spPr>
      </p:sp>
      <p:sp>
        <p:nvSpPr>
          <p:cNvPr id="23" name="Text 22"/>
          <p:cNvSpPr/>
          <p:nvPr/>
        </p:nvSpPr>
        <p:spPr>
          <a:xfrm>
            <a:off x="8238744" y="14721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學生／家庭</a:t>
            </a:r>
            <a:endParaRPr lang="zh-TW" sz="1800" dirty="0"/>
          </a:p>
        </p:txBody>
      </p:sp>
      <p:sp>
        <p:nvSpPr>
          <p:cNvPr id="24" name="Text 23"/>
          <p:cNvSpPr/>
          <p:nvPr/>
        </p:nvSpPr>
        <p:spPr>
          <a:xfrm>
            <a:off x="8238744" y="1874520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00" dirty="0">
                <a:solidFill>
                  <a:srgbClr val="B1CDC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說出需要</a:t>
            </a:r>
            <a:endParaRPr lang="zh-TW" sz="1000" dirty="0"/>
          </a:p>
        </p:txBody>
      </p:sp>
      <p:sp>
        <p:nvSpPr>
          <p:cNvPr id="25" name="Shape 24"/>
          <p:cNvSpPr/>
          <p:nvPr/>
        </p:nvSpPr>
        <p:spPr>
          <a:xfrm>
            <a:off x="7050024" y="4379976"/>
            <a:ext cx="1664208" cy="850392"/>
          </a:xfrm>
          <a:prstGeom prst="roundRect">
            <a:avLst>
              <a:gd name="adj" fmla="val 16129"/>
            </a:avLst>
          </a:prstGeom>
          <a:solidFill>
            <a:srgbClr val="1A4048"/>
          </a:solidFill>
          <a:ln w="10160">
            <a:solidFill>
              <a:srgbClr val="31545B"/>
            </a:solidFill>
            <a:prstDash val="solid"/>
          </a:ln>
        </p:spPr>
      </p:sp>
      <p:sp>
        <p:nvSpPr>
          <p:cNvPr id="26" name="Text 25"/>
          <p:cNvSpPr/>
          <p:nvPr/>
        </p:nvSpPr>
        <p:spPr>
          <a:xfrm>
            <a:off x="7050024" y="4507992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教師</a:t>
            </a:r>
            <a:endParaRPr lang="zh-TW" sz="1800" dirty="0"/>
          </a:p>
        </p:txBody>
      </p:sp>
      <p:sp>
        <p:nvSpPr>
          <p:cNvPr id="27" name="Text 26"/>
          <p:cNvSpPr/>
          <p:nvPr/>
        </p:nvSpPr>
        <p:spPr>
          <a:xfrm>
            <a:off x="7050024" y="4910328"/>
            <a:ext cx="16642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00" dirty="0">
                <a:solidFill>
                  <a:srgbClr val="B1CDC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及早關心</a:t>
            </a:r>
            <a:endParaRPr lang="zh-TW" sz="1000" dirty="0"/>
          </a:p>
        </p:txBody>
      </p:sp>
      <p:sp>
        <p:nvSpPr>
          <p:cNvPr id="28" name="Shape 27"/>
          <p:cNvSpPr/>
          <p:nvPr/>
        </p:nvSpPr>
        <p:spPr>
          <a:xfrm>
            <a:off x="10085832" y="4379976"/>
            <a:ext cx="1664208" cy="850392"/>
          </a:xfrm>
          <a:prstGeom prst="roundRect">
            <a:avLst>
              <a:gd name="adj" fmla="val 16129"/>
            </a:avLst>
          </a:prstGeom>
          <a:solidFill>
            <a:srgbClr val="1A4048"/>
          </a:solidFill>
          <a:ln w="10160">
            <a:solidFill>
              <a:srgbClr val="31545B"/>
            </a:solidFill>
            <a:prstDash val="solid"/>
          </a:ln>
        </p:spPr>
      </p:sp>
      <p:sp>
        <p:nvSpPr>
          <p:cNvPr id="29" name="Text 28"/>
          <p:cNvSpPr/>
          <p:nvPr/>
        </p:nvSpPr>
        <p:spPr>
          <a:xfrm>
            <a:off x="10085832" y="4507992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政府</a:t>
            </a:r>
            <a:endParaRPr lang="zh-TW" sz="1800" dirty="0"/>
          </a:p>
        </p:txBody>
      </p:sp>
      <p:sp>
        <p:nvSpPr>
          <p:cNvPr id="30" name="Text 29"/>
          <p:cNvSpPr/>
          <p:nvPr/>
        </p:nvSpPr>
        <p:spPr>
          <a:xfrm>
            <a:off x="10085832" y="4910328"/>
            <a:ext cx="16642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00" dirty="0">
                <a:solidFill>
                  <a:srgbClr val="B1CDC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資源到位</a:t>
            </a:r>
            <a:endParaRPr lang="zh-TW" sz="1000" dirty="0"/>
          </a:p>
        </p:txBody>
      </p:sp>
      <p:sp>
        <p:nvSpPr>
          <p:cNvPr id="31" name="Circle 30"/>
          <p:cNvSpPr/>
          <p:nvPr/>
        </p:nvSpPr>
        <p:spPr>
          <a:xfrm>
            <a:off x="8714232" y="2880360"/>
            <a:ext cx="1335024" cy="1335024"/>
          </a:xfrm>
          <a:prstGeom prst="ellipse">
            <a:avLst/>
          </a:prstGeom>
          <a:solidFill>
            <a:srgbClr val="74DCC5"/>
          </a:solidFill>
          <a:ln w="63500">
            <a:solidFill>
              <a:srgbClr val="102E38"/>
            </a:solidFill>
            <a:prstDash val="solid"/>
          </a:ln>
        </p:spPr>
      </p:sp>
      <p:sp>
        <p:nvSpPr>
          <p:cNvPr id="32" name="Text 31"/>
          <p:cNvSpPr/>
          <p:nvPr/>
        </p:nvSpPr>
        <p:spPr>
          <a:xfrm>
            <a:off x="8833104" y="3072384"/>
            <a:ext cx="10972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3300" b="1" dirty="0">
                <a:solidFill>
                  <a:srgbClr val="102E3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</a:t>
            </a:r>
            <a:endParaRPr lang="zh-TW" sz="3300" dirty="0"/>
          </a:p>
        </p:txBody>
      </p:sp>
      <p:sp>
        <p:nvSpPr>
          <p:cNvPr id="33" name="Text 32"/>
          <p:cNvSpPr/>
          <p:nvPr/>
        </p:nvSpPr>
        <p:spPr>
          <a:xfrm>
            <a:off x="8741664" y="363931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102E3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理解・串聯</a:t>
            </a:r>
            <a:endParaRPr lang="zh-TW" sz="1000" dirty="0"/>
          </a:p>
        </p:txBody>
      </p:sp>
      <p:sp>
        <p:nvSpPr>
          <p:cNvPr id="34" name="Connector 33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31545B"/>
            </a:solidFill>
            <a:prstDash val="solid"/>
          </a:ln>
        </p:spPr>
      </p:sp>
      <p:sp>
        <p:nvSpPr>
          <p:cNvPr id="35" name="Text 34"/>
          <p:cNvSpPr/>
          <p:nvPr/>
        </p:nvSpPr>
        <p:spPr>
          <a:xfrm>
            <a:off x="594360" y="6574536"/>
            <a:ext cx="9875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810" dirty="0">
                <a:solidFill>
                  <a:srgbClr val="A7C1C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從一個學生的問題，到一個家庭的改變。</a:t>
            </a:r>
            <a:endParaRPr lang="zh-TW" sz="810" dirty="0"/>
          </a:p>
        </p:txBody>
      </p:sp>
      <p:sp>
        <p:nvSpPr>
          <p:cNvPr id="36" name="Text 35"/>
          <p:cNvSpPr/>
          <p:nvPr/>
        </p:nvSpPr>
        <p:spPr>
          <a:xfrm>
            <a:off x="10424160" y="6556248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850" dirty="0">
                <a:solidFill>
                  <a:srgbClr val="A7C1C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00:00–00:10</a:t>
            </a:r>
            <a:endParaRPr lang="zh-TW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1"/>
          <p:cNvSpPr/>
          <p:nvPr/>
        </p:nvSpPr>
        <p:spPr>
          <a:xfrm>
            <a:off x="603504" y="292608"/>
            <a:ext cx="0" cy="219456"/>
          </a:xfrm>
          <a:prstGeom prst="line">
            <a:avLst/>
          </a:prstGeom>
          <a:noFill/>
          <a:ln w="20320">
            <a:solidFill>
              <a:srgbClr val="10AD9C"/>
            </a:solidFill>
            <a:prstDash val="solid"/>
          </a:ln>
        </p:spPr>
      </p:sp>
      <p:sp>
        <p:nvSpPr>
          <p:cNvPr id="3" name="Connector 2"/>
          <p:cNvSpPr/>
          <p:nvPr/>
        </p:nvSpPr>
        <p:spPr>
          <a:xfrm flipH="1" flipV="1">
            <a:off x="502920" y="301752"/>
            <a:ext cx="100584" cy="73152"/>
          </a:xfrm>
          <a:prstGeom prst="line">
            <a:avLst/>
          </a:prstGeom>
          <a:noFill/>
          <a:ln w="20320">
            <a:solidFill>
              <a:srgbClr val="10AD9C"/>
            </a:solidFill>
            <a:prstDash val="solid"/>
          </a:ln>
        </p:spPr>
      </p:sp>
      <p:sp>
        <p:nvSpPr>
          <p:cNvPr id="4" name="Connector 3"/>
          <p:cNvSpPr/>
          <p:nvPr/>
        </p:nvSpPr>
        <p:spPr>
          <a:xfrm flipV="1">
            <a:off x="603504" y="265176"/>
            <a:ext cx="118872" cy="109728"/>
          </a:xfrm>
          <a:prstGeom prst="line">
            <a:avLst/>
          </a:prstGeom>
          <a:noFill/>
          <a:ln w="20320">
            <a:solidFill>
              <a:srgbClr val="10AD9C"/>
            </a:solidFill>
            <a:prstDash val="solid"/>
          </a:ln>
        </p:spPr>
      </p:sp>
      <p:sp>
        <p:nvSpPr>
          <p:cNvPr id="5" name="Circle 4"/>
          <p:cNvSpPr/>
          <p:nvPr/>
        </p:nvSpPr>
        <p:spPr>
          <a:xfrm>
            <a:off x="466344" y="246888"/>
            <a:ext cx="100584" cy="100584"/>
          </a:xfrm>
          <a:prstGeom prst="ellipse">
            <a:avLst/>
          </a:prstGeom>
          <a:solidFill>
            <a:srgbClr val="10AD9C"/>
          </a:solidFill>
          <a:ln w="12700">
            <a:solidFill>
              <a:srgbClr val="10AD9C"/>
            </a:solidFill>
            <a:prstDash val="solid"/>
          </a:ln>
        </p:spPr>
      </p:sp>
      <p:sp>
        <p:nvSpPr>
          <p:cNvPr id="6" name="Circle 5"/>
          <p:cNvSpPr/>
          <p:nvPr/>
        </p:nvSpPr>
        <p:spPr>
          <a:xfrm>
            <a:off x="685800" y="210312"/>
            <a:ext cx="109728" cy="109728"/>
          </a:xfrm>
          <a:prstGeom prst="ellipse">
            <a:avLst/>
          </a:prstGeom>
          <a:solidFill>
            <a:srgbClr val="10AD9C"/>
          </a:solidFill>
          <a:ln w="12700">
            <a:solidFill>
              <a:srgbClr val="10AD9C"/>
            </a:solidFill>
            <a:prstDash val="solid"/>
          </a:ln>
        </p:spPr>
      </p:sp>
      <p:sp>
        <p:nvSpPr>
          <p:cNvPr id="7" name="Text 6"/>
          <p:cNvSpPr/>
          <p:nvPr/>
        </p:nvSpPr>
        <p:spPr>
          <a:xfrm>
            <a:off x="841248" y="2011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b="1" dirty="0">
                <a:solidFill>
                  <a:srgbClr val="143B4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Fellow 學伴</a:t>
            </a:r>
            <a:endParaRPr lang="zh-TW" sz="1300" dirty="0"/>
          </a:p>
        </p:txBody>
      </p:sp>
      <p:sp>
        <p:nvSpPr>
          <p:cNvPr id="8" name="Text 7"/>
          <p:cNvSpPr/>
          <p:nvPr/>
        </p:nvSpPr>
        <p:spPr>
          <a:xfrm>
            <a:off x="2441448" y="22860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920" spc="125" kern="0" dirty="0">
                <a:solidFill>
                  <a:srgbClr val="6A82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THE PROBLEM</a:t>
            </a:r>
            <a:endParaRPr lang="zh-TW" sz="920" dirty="0"/>
          </a:p>
        </p:txBody>
      </p:sp>
      <p:sp>
        <p:nvSpPr>
          <p:cNvPr id="9" name="Text 8"/>
          <p:cNvSpPr/>
          <p:nvPr/>
        </p:nvSpPr>
        <p:spPr>
          <a:xfrm>
            <a:off x="10744200" y="228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920" dirty="0">
                <a:solidFill>
                  <a:srgbClr val="6A82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 / 06</a:t>
            </a:r>
            <a:endParaRPr lang="zh-TW" sz="920" dirty="0"/>
          </a:p>
        </p:txBody>
      </p:sp>
      <p:sp>
        <p:nvSpPr>
          <p:cNvPr id="10" name="Text 9"/>
          <p:cNvSpPr/>
          <p:nvPr/>
        </p:nvSpPr>
        <p:spPr>
          <a:xfrm>
            <a:off x="594360" y="841248"/>
            <a:ext cx="10881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3100" b="1" dirty="0">
                <a:solidFill>
                  <a:srgbClr val="143B4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不是孩子不想學，</a:t>
            </a:r>
            <a:endParaRPr lang="zh-TW" sz="3100" dirty="0"/>
          </a:p>
        </p:txBody>
      </p:sp>
      <p:sp>
        <p:nvSpPr>
          <p:cNvPr id="11" name="Text 10"/>
          <p:cNvSpPr/>
          <p:nvPr/>
        </p:nvSpPr>
        <p:spPr>
          <a:xfrm>
            <a:off x="594360" y="1444752"/>
            <a:ext cx="10972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3300" b="1" dirty="0">
                <a:solidFill>
                  <a:srgbClr val="143B4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而是生活讓他們無法安心學。</a:t>
            </a:r>
            <a:endParaRPr lang="zh-TW" sz="3300" dirty="0"/>
          </a:p>
        </p:txBody>
      </p:sp>
      <p:sp>
        <p:nvSpPr>
          <p:cNvPr id="12" name="Shape 11"/>
          <p:cNvSpPr/>
          <p:nvPr/>
        </p:nvSpPr>
        <p:spPr>
          <a:xfrm>
            <a:off x="630936" y="2258568"/>
            <a:ext cx="7086600" cy="429768"/>
          </a:xfrm>
          <a:prstGeom prst="roundRect">
            <a:avLst>
              <a:gd name="adj" fmla="val 29787"/>
            </a:avLst>
          </a:prstGeom>
          <a:solidFill>
            <a:srgbClr val="FFF0DB"/>
          </a:solidFill>
          <a:ln w="12700">
            <a:solidFill>
              <a:srgbClr val="FFF0DB"/>
            </a:solidFill>
            <a:prstDash val="solid"/>
          </a:ln>
        </p:spPr>
      </p:sp>
      <p:sp>
        <p:nvSpPr>
          <p:cNvPr id="13" name="Text 12"/>
          <p:cNvSpPr/>
          <p:nvPr/>
        </p:nvSpPr>
        <p:spPr>
          <a:xfrm>
            <a:off x="704088" y="2258568"/>
            <a:ext cx="6940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C8823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颱風毀損農作  →  家庭收入下降  →  孩子擔心家計</a:t>
            </a:r>
            <a:endParaRPr lang="zh-TW" sz="1400" dirty="0"/>
          </a:p>
        </p:txBody>
      </p:sp>
      <p:sp>
        <p:nvSpPr>
          <p:cNvPr id="14" name="Shape 13"/>
          <p:cNvSpPr/>
          <p:nvPr/>
        </p:nvSpPr>
        <p:spPr>
          <a:xfrm>
            <a:off x="640080" y="3118104"/>
            <a:ext cx="278892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8E3DF"/>
            </a:solidFill>
            <a:prstDash val="solid"/>
          </a:ln>
        </p:spPr>
      </p:sp>
      <p:sp>
        <p:nvSpPr>
          <p:cNvPr id="15" name="Circle 14"/>
          <p:cNvSpPr/>
          <p:nvPr/>
        </p:nvSpPr>
        <p:spPr>
          <a:xfrm>
            <a:off x="850392" y="3364992"/>
            <a:ext cx="438912" cy="438912"/>
          </a:xfrm>
          <a:prstGeom prst="ellipse">
            <a:avLst/>
          </a:prstGeom>
          <a:solidFill>
            <a:srgbClr val="E4F4EE"/>
          </a:solidFill>
          <a:ln w="12700">
            <a:solidFill>
              <a:srgbClr val="E4F4EE"/>
            </a:solidFill>
            <a:prstDash val="solid"/>
          </a:ln>
        </p:spPr>
      </p:sp>
      <p:sp>
        <p:nvSpPr>
          <p:cNvPr id="16" name="Text 15"/>
          <p:cNvSpPr/>
          <p:nvPr/>
        </p:nvSpPr>
        <p:spPr>
          <a:xfrm>
            <a:off x="1444752" y="3337560"/>
            <a:ext cx="1856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100" b="1" dirty="0">
                <a:solidFill>
                  <a:srgbClr val="143B4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學生／家庭</a:t>
            </a:r>
            <a:endParaRPr lang="zh-TW" sz="2100" dirty="0"/>
          </a:p>
        </p:txBody>
      </p:sp>
      <p:sp>
        <p:nvSpPr>
          <p:cNvPr id="17" name="Text 16"/>
          <p:cNvSpPr/>
          <p:nvPr/>
        </p:nvSpPr>
        <p:spPr>
          <a:xfrm>
            <a:off x="850392" y="3941064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240" dirty="0">
                <a:solidFill>
                  <a:srgbClr val="6A82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有困難，不知道找誰</a:t>
            </a:r>
            <a:endParaRPr lang="zh-TW" sz="1240" dirty="0"/>
          </a:p>
        </p:txBody>
      </p:sp>
      <p:sp>
        <p:nvSpPr>
          <p:cNvPr id="18" name="Shape 17"/>
          <p:cNvSpPr/>
          <p:nvPr/>
        </p:nvSpPr>
        <p:spPr>
          <a:xfrm>
            <a:off x="4718304" y="3118104"/>
            <a:ext cx="278892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8E3DF"/>
            </a:solidFill>
            <a:prstDash val="solid"/>
          </a:ln>
        </p:spPr>
      </p:sp>
      <p:sp>
        <p:nvSpPr>
          <p:cNvPr id="19" name="Circle 18"/>
          <p:cNvSpPr/>
          <p:nvPr/>
        </p:nvSpPr>
        <p:spPr>
          <a:xfrm>
            <a:off x="4928616" y="3364992"/>
            <a:ext cx="438912" cy="438912"/>
          </a:xfrm>
          <a:prstGeom prst="ellipse">
            <a:avLst/>
          </a:prstGeom>
          <a:solidFill>
            <a:srgbClr val="E7F0F7"/>
          </a:solidFill>
          <a:ln w="12700">
            <a:solidFill>
              <a:srgbClr val="E7F0F7"/>
            </a:solidFill>
            <a:prstDash val="solid"/>
          </a:ln>
        </p:spPr>
      </p:sp>
      <p:sp>
        <p:nvSpPr>
          <p:cNvPr id="20" name="Text 19"/>
          <p:cNvSpPr/>
          <p:nvPr/>
        </p:nvSpPr>
        <p:spPr>
          <a:xfrm>
            <a:off x="5522976" y="3337560"/>
            <a:ext cx="1856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100" b="1" dirty="0">
                <a:solidFill>
                  <a:srgbClr val="143B4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教師</a:t>
            </a:r>
            <a:endParaRPr lang="zh-TW" sz="2100" dirty="0"/>
          </a:p>
        </p:txBody>
      </p:sp>
      <p:sp>
        <p:nvSpPr>
          <p:cNvPr id="21" name="Text 20"/>
          <p:cNvSpPr/>
          <p:nvPr/>
        </p:nvSpPr>
        <p:spPr>
          <a:xfrm>
            <a:off x="4928616" y="3941064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240" dirty="0">
                <a:solidFill>
                  <a:srgbClr val="6A82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看見異常，難掌握原因</a:t>
            </a:r>
            <a:endParaRPr lang="zh-TW" sz="1240" dirty="0"/>
          </a:p>
        </p:txBody>
      </p:sp>
      <p:sp>
        <p:nvSpPr>
          <p:cNvPr id="22" name="Shape 21"/>
          <p:cNvSpPr/>
          <p:nvPr/>
        </p:nvSpPr>
        <p:spPr>
          <a:xfrm>
            <a:off x="8805672" y="3118104"/>
            <a:ext cx="278892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8E3DF"/>
            </a:solidFill>
            <a:prstDash val="solid"/>
          </a:ln>
        </p:spPr>
      </p:sp>
      <p:sp>
        <p:nvSpPr>
          <p:cNvPr id="23" name="Circle 22"/>
          <p:cNvSpPr/>
          <p:nvPr/>
        </p:nvSpPr>
        <p:spPr>
          <a:xfrm>
            <a:off x="9015984" y="3364992"/>
            <a:ext cx="438912" cy="438912"/>
          </a:xfrm>
          <a:prstGeom prst="ellipse">
            <a:avLst/>
          </a:prstGeom>
          <a:solidFill>
            <a:srgbClr val="FFF0DB"/>
          </a:solidFill>
          <a:ln w="12700">
            <a:solidFill>
              <a:srgbClr val="FFF0DB"/>
            </a:solidFill>
            <a:prstDash val="solid"/>
          </a:ln>
        </p:spPr>
      </p:sp>
      <p:sp>
        <p:nvSpPr>
          <p:cNvPr id="24" name="Text 23"/>
          <p:cNvSpPr/>
          <p:nvPr/>
        </p:nvSpPr>
        <p:spPr>
          <a:xfrm>
            <a:off x="9610344" y="3337560"/>
            <a:ext cx="1856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100" b="1" dirty="0">
                <a:solidFill>
                  <a:srgbClr val="143B4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政府</a:t>
            </a:r>
            <a:endParaRPr lang="zh-TW" sz="2100" dirty="0"/>
          </a:p>
        </p:txBody>
      </p:sp>
      <p:sp>
        <p:nvSpPr>
          <p:cNvPr id="25" name="Text 24"/>
          <p:cNvSpPr/>
          <p:nvPr/>
        </p:nvSpPr>
        <p:spPr>
          <a:xfrm>
            <a:off x="9015984" y="3941064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240" dirty="0">
                <a:solidFill>
                  <a:srgbClr val="6A82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有資源，難找到需求</a:t>
            </a:r>
            <a:endParaRPr lang="zh-TW" sz="1240" dirty="0"/>
          </a:p>
        </p:txBody>
      </p:sp>
      <p:sp>
        <p:nvSpPr>
          <p:cNvPr id="26" name="Connector 25"/>
          <p:cNvSpPr/>
          <p:nvPr/>
        </p:nvSpPr>
        <p:spPr>
          <a:xfrm>
            <a:off x="3493008" y="3703320"/>
            <a:ext cx="461772" cy="0"/>
          </a:xfrm>
          <a:prstGeom prst="line">
            <a:avLst/>
          </a:prstGeom>
          <a:noFill/>
          <a:ln w="15240">
            <a:solidFill>
              <a:srgbClr val="C46F5C"/>
            </a:solidFill>
            <a:prstDash val="dash"/>
          </a:ln>
        </p:spPr>
      </p:sp>
      <p:sp>
        <p:nvSpPr>
          <p:cNvPr id="27" name="Connector 26"/>
          <p:cNvSpPr/>
          <p:nvPr/>
        </p:nvSpPr>
        <p:spPr>
          <a:xfrm>
            <a:off x="4192524" y="3703320"/>
            <a:ext cx="461772" cy="0"/>
          </a:xfrm>
          <a:prstGeom prst="line">
            <a:avLst/>
          </a:prstGeom>
          <a:noFill/>
          <a:ln w="15240">
            <a:solidFill>
              <a:srgbClr val="C46F5C"/>
            </a:solidFill>
            <a:prstDash val="dash"/>
          </a:ln>
        </p:spPr>
      </p:sp>
      <p:sp>
        <p:nvSpPr>
          <p:cNvPr id="28" name="Connector 27"/>
          <p:cNvSpPr/>
          <p:nvPr/>
        </p:nvSpPr>
        <p:spPr>
          <a:xfrm>
            <a:off x="4014216" y="3611880"/>
            <a:ext cx="118872" cy="182880"/>
          </a:xfrm>
          <a:prstGeom prst="line">
            <a:avLst/>
          </a:prstGeom>
          <a:noFill/>
          <a:ln w="17780">
            <a:solidFill>
              <a:srgbClr val="C46F5C"/>
            </a:solidFill>
            <a:prstDash val="solid"/>
          </a:ln>
        </p:spPr>
      </p:sp>
      <p:sp>
        <p:nvSpPr>
          <p:cNvPr id="29" name="Text 28"/>
          <p:cNvSpPr/>
          <p:nvPr/>
        </p:nvSpPr>
        <p:spPr>
          <a:xfrm>
            <a:off x="3392424" y="3044952"/>
            <a:ext cx="13624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860" dirty="0">
                <a:solidFill>
                  <a:srgbClr val="C46F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Student ↔ Teacher</a:t>
            </a:r>
            <a:endParaRPr lang="zh-TW" sz="860" dirty="0"/>
          </a:p>
          <a:p>
            <a:pPr algn="ctr" indent="0" marL="0">
              <a:buNone/>
            </a:pPr>
            <a:r>
              <a:rPr lang="zh-TW" altLang="en-US" sz="860" dirty="0">
                <a:solidFill>
                  <a:srgbClr val="C46F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Gap</a:t>
            </a:r>
            <a:endParaRPr lang="zh-TW" sz="860" dirty="0"/>
          </a:p>
        </p:txBody>
      </p:sp>
      <p:sp>
        <p:nvSpPr>
          <p:cNvPr id="30" name="Connector 29"/>
          <p:cNvSpPr/>
          <p:nvPr/>
        </p:nvSpPr>
        <p:spPr>
          <a:xfrm>
            <a:off x="7571232" y="3703320"/>
            <a:ext cx="466344" cy="0"/>
          </a:xfrm>
          <a:prstGeom prst="line">
            <a:avLst/>
          </a:prstGeom>
          <a:noFill/>
          <a:ln w="15240">
            <a:solidFill>
              <a:srgbClr val="C46F5C"/>
            </a:solidFill>
            <a:prstDash val="dash"/>
          </a:ln>
        </p:spPr>
      </p:sp>
      <p:sp>
        <p:nvSpPr>
          <p:cNvPr id="31" name="Connector 30"/>
          <p:cNvSpPr/>
          <p:nvPr/>
        </p:nvSpPr>
        <p:spPr>
          <a:xfrm>
            <a:off x="8275320" y="3703320"/>
            <a:ext cx="466344" cy="0"/>
          </a:xfrm>
          <a:prstGeom prst="line">
            <a:avLst/>
          </a:prstGeom>
          <a:noFill/>
          <a:ln w="15240">
            <a:solidFill>
              <a:srgbClr val="C46F5C"/>
            </a:solidFill>
            <a:prstDash val="dash"/>
          </a:ln>
        </p:spPr>
      </p:sp>
      <p:sp>
        <p:nvSpPr>
          <p:cNvPr id="32" name="Connector 31"/>
          <p:cNvSpPr/>
          <p:nvPr/>
        </p:nvSpPr>
        <p:spPr>
          <a:xfrm>
            <a:off x="8097012" y="3611880"/>
            <a:ext cx="118872" cy="182880"/>
          </a:xfrm>
          <a:prstGeom prst="line">
            <a:avLst/>
          </a:prstGeom>
          <a:noFill/>
          <a:ln w="17780">
            <a:solidFill>
              <a:srgbClr val="C46F5C"/>
            </a:solidFill>
            <a:prstDash val="solid"/>
          </a:ln>
        </p:spPr>
      </p:sp>
      <p:sp>
        <p:nvSpPr>
          <p:cNvPr id="33" name="Text 32"/>
          <p:cNvSpPr/>
          <p:nvPr/>
        </p:nvSpPr>
        <p:spPr>
          <a:xfrm>
            <a:off x="7470648" y="3044952"/>
            <a:ext cx="1371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860" dirty="0">
                <a:solidFill>
                  <a:srgbClr val="C46F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Teacher ↔ Government</a:t>
            </a:r>
            <a:endParaRPr lang="zh-TW" sz="860" dirty="0"/>
          </a:p>
          <a:p>
            <a:pPr algn="ctr" indent="0" marL="0">
              <a:buNone/>
            </a:pPr>
            <a:r>
              <a:rPr lang="zh-TW" altLang="en-US" sz="860" dirty="0">
                <a:solidFill>
                  <a:srgbClr val="C46F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Gap</a:t>
            </a:r>
            <a:endParaRPr lang="zh-TW" sz="860" dirty="0"/>
          </a:p>
        </p:txBody>
      </p:sp>
      <p:sp>
        <p:nvSpPr>
          <p:cNvPr id="34" name="Connector 33"/>
          <p:cNvSpPr/>
          <p:nvPr/>
        </p:nvSpPr>
        <p:spPr>
          <a:xfrm>
            <a:off x="2029968" y="4489704"/>
            <a:ext cx="0" cy="448056"/>
          </a:xfrm>
          <a:prstGeom prst="line">
            <a:avLst/>
          </a:prstGeom>
          <a:noFill/>
          <a:ln w="12700">
            <a:solidFill>
              <a:srgbClr val="C46F5C"/>
            </a:solidFill>
            <a:prstDash val="dash"/>
          </a:ln>
        </p:spPr>
      </p:sp>
      <p:sp>
        <p:nvSpPr>
          <p:cNvPr id="35" name="Connector 34"/>
          <p:cNvSpPr/>
          <p:nvPr/>
        </p:nvSpPr>
        <p:spPr>
          <a:xfrm>
            <a:off x="2029968" y="4937760"/>
            <a:ext cx="2852928" cy="0"/>
          </a:xfrm>
          <a:prstGeom prst="line">
            <a:avLst/>
          </a:prstGeom>
          <a:noFill/>
          <a:ln w="12700">
            <a:solidFill>
              <a:srgbClr val="C46F5C"/>
            </a:solidFill>
            <a:prstDash val="dash"/>
          </a:ln>
        </p:spPr>
      </p:sp>
      <p:sp>
        <p:nvSpPr>
          <p:cNvPr id="36" name="Connector 35"/>
          <p:cNvSpPr/>
          <p:nvPr/>
        </p:nvSpPr>
        <p:spPr>
          <a:xfrm>
            <a:off x="7333488" y="4937760"/>
            <a:ext cx="2871216" cy="0"/>
          </a:xfrm>
          <a:prstGeom prst="line">
            <a:avLst/>
          </a:prstGeom>
          <a:noFill/>
          <a:ln w="12700">
            <a:solidFill>
              <a:srgbClr val="C46F5C"/>
            </a:solidFill>
            <a:prstDash val="dash"/>
          </a:ln>
        </p:spPr>
      </p:sp>
      <p:sp>
        <p:nvSpPr>
          <p:cNvPr id="37" name="Connector 36"/>
          <p:cNvSpPr/>
          <p:nvPr/>
        </p:nvSpPr>
        <p:spPr>
          <a:xfrm flipV="1">
            <a:off x="10204704" y="4489704"/>
            <a:ext cx="0" cy="448056"/>
          </a:xfrm>
          <a:prstGeom prst="line">
            <a:avLst/>
          </a:prstGeom>
          <a:noFill/>
          <a:ln w="12700">
            <a:solidFill>
              <a:srgbClr val="C46F5C"/>
            </a:solidFill>
            <a:prstDash val="dash"/>
          </a:ln>
        </p:spPr>
      </p:sp>
      <p:sp>
        <p:nvSpPr>
          <p:cNvPr id="38" name="Text 37"/>
          <p:cNvSpPr/>
          <p:nvPr/>
        </p:nvSpPr>
        <p:spPr>
          <a:xfrm>
            <a:off x="4608576" y="4754880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70" dirty="0">
                <a:solidFill>
                  <a:srgbClr val="C46F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Student ↔ Government Gap</a:t>
            </a:r>
            <a:endParaRPr lang="zh-TW" sz="1070" dirty="0"/>
          </a:p>
        </p:txBody>
      </p:sp>
      <p:sp>
        <p:nvSpPr>
          <p:cNvPr id="39" name="Text 38"/>
          <p:cNvSpPr/>
          <p:nvPr/>
        </p:nvSpPr>
        <p:spPr>
          <a:xfrm>
            <a:off x="658368" y="5458968"/>
            <a:ext cx="10881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400" b="1" dirty="0">
                <a:solidFill>
                  <a:srgbClr val="143B4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教育問題的背後，往往是家庭問題。</a:t>
            </a:r>
            <a:endParaRPr lang="zh-TW" sz="2400" dirty="0"/>
          </a:p>
        </p:txBody>
      </p:sp>
      <p:sp>
        <p:nvSpPr>
          <p:cNvPr id="40" name="Text 39"/>
          <p:cNvSpPr/>
          <p:nvPr/>
        </p:nvSpPr>
        <p:spPr>
          <a:xfrm>
            <a:off x="667512" y="595274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20" dirty="0">
                <a:solidFill>
                  <a:srgbClr val="6A82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真正缺少的，是把需求與資源連起來的系統。</a:t>
            </a:r>
            <a:endParaRPr lang="zh-TW" sz="1520" dirty="0"/>
          </a:p>
        </p:txBody>
      </p:sp>
      <p:sp>
        <p:nvSpPr>
          <p:cNvPr id="41" name="Connector 40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D8E3DF"/>
            </a:solidFill>
            <a:prstDash val="solid"/>
          </a:ln>
        </p:spPr>
      </p:sp>
      <p:sp>
        <p:nvSpPr>
          <p:cNvPr id="42" name="Text 41"/>
          <p:cNvSpPr/>
          <p:nvPr/>
        </p:nvSpPr>
        <p:spPr>
          <a:xfrm>
            <a:off x="594360" y="6574536"/>
            <a:ext cx="9875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810" dirty="0">
                <a:solidFill>
                  <a:srgbClr val="6A82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一個颱風後的家庭情境</a:t>
            </a:r>
            <a:endParaRPr lang="zh-TW" sz="810" dirty="0"/>
          </a:p>
        </p:txBody>
      </p:sp>
      <p:sp>
        <p:nvSpPr>
          <p:cNvPr id="43" name="Text 42"/>
          <p:cNvSpPr/>
          <p:nvPr/>
        </p:nvSpPr>
        <p:spPr>
          <a:xfrm>
            <a:off x="10424160" y="6556248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850" dirty="0">
                <a:solidFill>
                  <a:srgbClr val="6A82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00:10–00:30</a:t>
            </a:r>
            <a:endParaRPr lang="zh-TW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1"/>
          <p:cNvSpPr/>
          <p:nvPr/>
        </p:nvSpPr>
        <p:spPr>
          <a:xfrm>
            <a:off x="603504" y="292608"/>
            <a:ext cx="0" cy="219456"/>
          </a:xfrm>
          <a:prstGeom prst="line">
            <a:avLst/>
          </a:prstGeom>
          <a:noFill/>
          <a:ln w="20320">
            <a:solidFill>
              <a:srgbClr val="10AD9C"/>
            </a:solidFill>
            <a:prstDash val="solid"/>
          </a:ln>
        </p:spPr>
      </p:sp>
      <p:sp>
        <p:nvSpPr>
          <p:cNvPr id="3" name="Connector 2"/>
          <p:cNvSpPr/>
          <p:nvPr/>
        </p:nvSpPr>
        <p:spPr>
          <a:xfrm flipH="1" flipV="1">
            <a:off x="502920" y="301752"/>
            <a:ext cx="100584" cy="73152"/>
          </a:xfrm>
          <a:prstGeom prst="line">
            <a:avLst/>
          </a:prstGeom>
          <a:noFill/>
          <a:ln w="20320">
            <a:solidFill>
              <a:srgbClr val="10AD9C"/>
            </a:solidFill>
            <a:prstDash val="solid"/>
          </a:ln>
        </p:spPr>
      </p:sp>
      <p:sp>
        <p:nvSpPr>
          <p:cNvPr id="4" name="Connector 3"/>
          <p:cNvSpPr/>
          <p:nvPr/>
        </p:nvSpPr>
        <p:spPr>
          <a:xfrm flipV="1">
            <a:off x="603504" y="265176"/>
            <a:ext cx="118872" cy="109728"/>
          </a:xfrm>
          <a:prstGeom prst="line">
            <a:avLst/>
          </a:prstGeom>
          <a:noFill/>
          <a:ln w="20320">
            <a:solidFill>
              <a:srgbClr val="10AD9C"/>
            </a:solidFill>
            <a:prstDash val="solid"/>
          </a:ln>
        </p:spPr>
      </p:sp>
      <p:sp>
        <p:nvSpPr>
          <p:cNvPr id="5" name="Circle 4"/>
          <p:cNvSpPr/>
          <p:nvPr/>
        </p:nvSpPr>
        <p:spPr>
          <a:xfrm>
            <a:off x="466344" y="246888"/>
            <a:ext cx="100584" cy="100584"/>
          </a:xfrm>
          <a:prstGeom prst="ellipse">
            <a:avLst/>
          </a:prstGeom>
          <a:solidFill>
            <a:srgbClr val="10AD9C"/>
          </a:solidFill>
          <a:ln w="12700">
            <a:solidFill>
              <a:srgbClr val="10AD9C"/>
            </a:solidFill>
            <a:prstDash val="solid"/>
          </a:ln>
        </p:spPr>
      </p:sp>
      <p:sp>
        <p:nvSpPr>
          <p:cNvPr id="6" name="Circle 5"/>
          <p:cNvSpPr/>
          <p:nvPr/>
        </p:nvSpPr>
        <p:spPr>
          <a:xfrm>
            <a:off x="685800" y="210312"/>
            <a:ext cx="109728" cy="109728"/>
          </a:xfrm>
          <a:prstGeom prst="ellipse">
            <a:avLst/>
          </a:prstGeom>
          <a:solidFill>
            <a:srgbClr val="10AD9C"/>
          </a:solidFill>
          <a:ln w="12700">
            <a:solidFill>
              <a:srgbClr val="10AD9C"/>
            </a:solidFill>
            <a:prstDash val="solid"/>
          </a:ln>
        </p:spPr>
      </p:sp>
      <p:sp>
        <p:nvSpPr>
          <p:cNvPr id="7" name="Text 6"/>
          <p:cNvSpPr/>
          <p:nvPr/>
        </p:nvSpPr>
        <p:spPr>
          <a:xfrm>
            <a:off x="841248" y="2011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b="1" dirty="0">
                <a:solidFill>
                  <a:srgbClr val="143B4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Fellow 學伴</a:t>
            </a:r>
            <a:endParaRPr lang="zh-TW" sz="1300" dirty="0"/>
          </a:p>
        </p:txBody>
      </p:sp>
      <p:sp>
        <p:nvSpPr>
          <p:cNvPr id="8" name="Text 7"/>
          <p:cNvSpPr/>
          <p:nvPr/>
        </p:nvSpPr>
        <p:spPr>
          <a:xfrm>
            <a:off x="2441448" y="22860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920" spc="125" kern="0" dirty="0">
                <a:solidFill>
                  <a:srgbClr val="6A82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STUDENT DEMO / 01</a:t>
            </a:r>
            <a:endParaRPr lang="zh-TW" sz="920" dirty="0"/>
          </a:p>
        </p:txBody>
      </p:sp>
      <p:sp>
        <p:nvSpPr>
          <p:cNvPr id="9" name="Text 8"/>
          <p:cNvSpPr/>
          <p:nvPr/>
        </p:nvSpPr>
        <p:spPr>
          <a:xfrm>
            <a:off x="10744200" y="228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920" dirty="0">
                <a:solidFill>
                  <a:srgbClr val="6A82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 / 06</a:t>
            </a:r>
            <a:endParaRPr lang="zh-TW" sz="920" dirty="0"/>
          </a:p>
        </p:txBody>
      </p:sp>
      <p:sp>
        <p:nvSpPr>
          <p:cNvPr id="10" name="Text 9"/>
          <p:cNvSpPr/>
          <p:nvPr/>
        </p:nvSpPr>
        <p:spPr>
          <a:xfrm>
            <a:off x="594360" y="804672"/>
            <a:ext cx="11018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3300" b="1" dirty="0">
                <a:solidFill>
                  <a:srgbClr val="143B4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讓學生敢問，也讓 AI 聽懂。</a:t>
            </a:r>
            <a:endParaRPr lang="zh-TW" sz="3300" dirty="0"/>
          </a:p>
        </p:txBody>
      </p:sp>
      <p:sp>
        <p:nvSpPr>
          <p:cNvPr id="11" name="Shape 10"/>
          <p:cNvSpPr/>
          <p:nvPr/>
        </p:nvSpPr>
        <p:spPr>
          <a:xfrm>
            <a:off x="649224" y="1783080"/>
            <a:ext cx="8366760" cy="4704588"/>
          </a:xfrm>
          <a:prstGeom prst="roundRect">
            <a:avLst>
              <a:gd name="adj" fmla="val 2721"/>
            </a:avLst>
          </a:prstGeom>
          <a:solidFill>
            <a:srgbClr val="E4EAE6"/>
          </a:solidFill>
          <a:ln w="12700">
            <a:solidFill>
              <a:srgbClr val="E4EAE6"/>
            </a:solidFill>
            <a:prstDash val="solid"/>
          </a:ln>
        </p:spPr>
      </p:sp>
      <p:sp>
        <p:nvSpPr>
          <p:cNvPr id="12" name="DEMO_FRAME"/>
          <p:cNvSpPr/>
          <p:nvPr/>
        </p:nvSpPr>
        <p:spPr>
          <a:xfrm>
            <a:off x="603504" y="1719072"/>
            <a:ext cx="8366760" cy="4704588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8890">
            <a:solidFill>
              <a:srgbClr val="D8E3DF"/>
            </a:solidFill>
            <a:prstDash val="solid"/>
          </a:ln>
        </p:spPr>
      </p:sp>
      <p:sp>
        <p:nvSpPr>
          <p:cNvPr id="13" name="Circle 11"/>
          <p:cNvSpPr/>
          <p:nvPr/>
        </p:nvSpPr>
        <p:spPr>
          <a:xfrm>
            <a:off x="768096" y="1865376"/>
            <a:ext cx="54864" cy="54864"/>
          </a:xfrm>
          <a:prstGeom prst="ellipse">
            <a:avLst/>
          </a:prstGeom>
          <a:solidFill>
            <a:srgbClr val="10AD9C"/>
          </a:solidFill>
          <a:ln w="12700">
            <a:solidFill>
              <a:srgbClr val="10AD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1792224"/>
            <a:ext cx="7781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900" spc="80" kern="0" dirty="0">
                <a:solidFill>
                  <a:srgbClr val="6A82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STUDENT DEMO   /   從提問，到看得懂</a:t>
            </a:r>
            <a:endParaRPr lang="zh-TW" sz="900" dirty="0"/>
          </a:p>
        </p:txBody>
      </p:sp>
      <p:sp>
        <p:nvSpPr>
          <p:cNvPr id="15" name="Connector 13"/>
          <p:cNvSpPr/>
          <p:nvPr/>
        </p:nvSpPr>
        <p:spPr>
          <a:xfrm>
            <a:off x="749808" y="2084832"/>
            <a:ext cx="8074152" cy="0"/>
          </a:xfrm>
          <a:prstGeom prst="line">
            <a:avLst/>
          </a:prstGeom>
          <a:noFill/>
          <a:ln w="6350">
            <a:solidFill>
              <a:srgbClr val="D8E3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8116" y="2217420"/>
            <a:ext cx="1785095" cy="3767328"/>
          </a:xfrm>
          <a:prstGeom prst="roundRect">
            <a:avLst>
              <a:gd name="adj" fmla="val 6147"/>
            </a:avLst>
          </a:prstGeom>
          <a:solidFill>
            <a:srgbClr val="143B43"/>
          </a:solidFill>
          <a:ln w="12700">
            <a:solidFill>
              <a:srgbClr val="143B43"/>
            </a:solidFill>
            <a:prstDash val="solid"/>
          </a:ln>
        </p:spPr>
      </p:sp>
      <p:pic>
        <p:nvPicPr>
          <p:cNvPr id="17" name="DEMO_home.png" descr="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258568"/>
            <a:ext cx="1702799" cy="368503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32104" y="6044184"/>
            <a:ext cx="19771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6A82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  進入首頁</a:t>
            </a:r>
            <a:endParaRPr lang="zh-TW" sz="1000" dirty="0"/>
          </a:p>
        </p:txBody>
      </p:sp>
      <p:sp>
        <p:nvSpPr>
          <p:cNvPr id="19" name="Shape 16"/>
          <p:cNvSpPr/>
          <p:nvPr/>
        </p:nvSpPr>
        <p:spPr>
          <a:xfrm>
            <a:off x="3579876" y="2217420"/>
            <a:ext cx="1785095" cy="3767328"/>
          </a:xfrm>
          <a:prstGeom prst="roundRect">
            <a:avLst>
              <a:gd name="adj" fmla="val 6147"/>
            </a:avLst>
          </a:prstGeom>
          <a:solidFill>
            <a:srgbClr val="143B43"/>
          </a:solidFill>
          <a:ln w="12700">
            <a:solidFill>
              <a:srgbClr val="143B43"/>
            </a:solidFill>
            <a:prstDash val="solid"/>
          </a:ln>
        </p:spPr>
      </p:sp>
      <p:pic>
        <p:nvPicPr>
          <p:cNvPr id="20" name="DEMO_learning-topics.png" descr="learning-topic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2258568"/>
            <a:ext cx="1702799" cy="3685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483864" y="6044184"/>
            <a:ext cx="19771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6A82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  選主題、提問</a:t>
            </a:r>
            <a:endParaRPr lang="zh-TW" sz="1000" dirty="0"/>
          </a:p>
        </p:txBody>
      </p:sp>
      <p:sp>
        <p:nvSpPr>
          <p:cNvPr id="22" name="Shape 18"/>
          <p:cNvSpPr/>
          <p:nvPr/>
        </p:nvSpPr>
        <p:spPr>
          <a:xfrm>
            <a:off x="6231636" y="2217420"/>
            <a:ext cx="1785095" cy="3767328"/>
          </a:xfrm>
          <a:prstGeom prst="roundRect">
            <a:avLst>
              <a:gd name="adj" fmla="val 6147"/>
            </a:avLst>
          </a:prstGeom>
          <a:solidFill>
            <a:srgbClr val="143B43"/>
          </a:solidFill>
          <a:ln w="12700">
            <a:solidFill>
              <a:srgbClr val="143B43"/>
            </a:solidFill>
            <a:prstDash val="solid"/>
          </a:ln>
        </p:spPr>
      </p:sp>
      <p:pic>
        <p:nvPicPr>
          <p:cNvPr id="23" name="DEMO_learning-simulation.png" descr="learning-simula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2258568"/>
            <a:ext cx="1702799" cy="368503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135624" y="6044184"/>
            <a:ext cx="19771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6A82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  回答與互動動畫</a:t>
            </a:r>
            <a:endParaRPr lang="zh-TW" sz="1000" dirty="0"/>
          </a:p>
        </p:txBody>
      </p:sp>
      <p:sp>
        <p:nvSpPr>
          <p:cNvPr id="25" name="Connector 20"/>
          <p:cNvSpPr/>
          <p:nvPr/>
        </p:nvSpPr>
        <p:spPr>
          <a:xfrm>
            <a:off x="2852928" y="3922776"/>
            <a:ext cx="429768" cy="0"/>
          </a:xfrm>
          <a:prstGeom prst="line">
            <a:avLst/>
          </a:prstGeom>
          <a:noFill/>
          <a:ln w="19050">
            <a:solidFill>
              <a:srgbClr val="10AD9C"/>
            </a:solidFill>
            <a:prstDash val="solid"/>
            <a:tailEnd type="triangle"/>
          </a:ln>
        </p:spPr>
      </p:sp>
      <p:sp>
        <p:nvSpPr>
          <p:cNvPr id="26" name="Connector 21"/>
          <p:cNvSpPr/>
          <p:nvPr/>
        </p:nvSpPr>
        <p:spPr>
          <a:xfrm>
            <a:off x="5504688" y="3922776"/>
            <a:ext cx="429768" cy="0"/>
          </a:xfrm>
          <a:prstGeom prst="line">
            <a:avLst/>
          </a:prstGeom>
          <a:noFill/>
          <a:ln w="19050">
            <a:solidFill>
              <a:srgbClr val="10AD9C"/>
            </a:solidFill>
            <a:prstDash val="solid"/>
            <a:tailEnd type="triangle"/>
          </a:ln>
        </p:spPr>
      </p:sp>
      <p:sp>
        <p:nvSpPr>
          <p:cNvPr id="27" name="Connector 22"/>
          <p:cNvSpPr/>
          <p:nvPr/>
        </p:nvSpPr>
        <p:spPr>
          <a:xfrm>
            <a:off x="9262872" y="1920240"/>
            <a:ext cx="402336" cy="0"/>
          </a:xfrm>
          <a:prstGeom prst="line">
            <a:avLst/>
          </a:prstGeom>
          <a:noFill/>
          <a:ln w="38100">
            <a:solidFill>
              <a:srgbClr val="10AD9C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262872" y="2139696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00" b="1" dirty="0">
                <a:solidFill>
                  <a:srgbClr val="10AD9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從回答，到理解</a:t>
            </a:r>
            <a:endParaRPr lang="zh-TW" sz="1100" dirty="0"/>
          </a:p>
        </p:txBody>
      </p:sp>
      <p:sp>
        <p:nvSpPr>
          <p:cNvPr id="29" name="Text 24"/>
          <p:cNvSpPr/>
          <p:nvPr/>
        </p:nvSpPr>
        <p:spPr>
          <a:xfrm>
            <a:off x="9262872" y="2660904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TW" altLang="en-US" sz="2400" b="1" dirty="0">
                <a:solidFill>
                  <a:srgbClr val="143B4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不只回答</a:t>
            </a:r>
            <a:endParaRPr lang="zh-TW" sz="2400" dirty="0"/>
          </a:p>
          <a:p>
            <a:pPr indent="0" marL="0">
              <a:lnSpc>
                <a:spcPct val="115000"/>
              </a:lnSpc>
              <a:buNone/>
            </a:pPr>
            <a:r>
              <a:rPr lang="zh-TW" altLang="en-US" sz="2400" b="1" dirty="0">
                <a:solidFill>
                  <a:srgbClr val="143B4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問了什麼，</a:t>
            </a:r>
            <a:endParaRPr lang="zh-TW" sz="2400" dirty="0"/>
          </a:p>
          <a:p>
            <a:pPr indent="0" marL="0">
              <a:lnSpc>
                <a:spcPct val="115000"/>
              </a:lnSpc>
              <a:buNone/>
            </a:pPr>
            <a:r>
              <a:rPr lang="zh-TW" altLang="en-US" sz="2400" b="1" dirty="0">
                <a:solidFill>
                  <a:srgbClr val="143B4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更理解為何而問。</a:t>
            </a:r>
            <a:endParaRPr lang="zh-TW" sz="2400" dirty="0"/>
          </a:p>
        </p:txBody>
      </p:sp>
      <p:sp>
        <p:nvSpPr>
          <p:cNvPr id="30" name="Text 25"/>
          <p:cNvSpPr/>
          <p:nvPr/>
        </p:nvSpPr>
        <p:spPr>
          <a:xfrm>
            <a:off x="9262872" y="482803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20" dirty="0">
                <a:solidFill>
                  <a:srgbClr val="6A82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依學生情境，</a:t>
            </a:r>
            <a:endParaRPr lang="zh-TW" sz="1220" dirty="0"/>
          </a:p>
          <a:p>
            <a:pPr indent="0" marL="0">
              <a:buNone/>
            </a:pPr>
            <a:r>
              <a:rPr lang="zh-TW" altLang="en-US" sz="1220" dirty="0">
                <a:solidFill>
                  <a:srgbClr val="6A82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編排解釋、教材與視覺化。</a:t>
            </a:r>
            <a:endParaRPr lang="zh-TW" sz="1220" dirty="0"/>
          </a:p>
        </p:txBody>
      </p:sp>
      <p:sp>
        <p:nvSpPr>
          <p:cNvPr id="31" name="Text 26"/>
          <p:cNvSpPr/>
          <p:nvPr/>
        </p:nvSpPr>
        <p:spPr>
          <a:xfrm>
            <a:off x="9262872" y="582472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940" b="1" dirty="0">
                <a:solidFill>
                  <a:srgbClr val="10AD9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Prompt Engineering /</a:t>
            </a:r>
            <a:endParaRPr lang="zh-TW" sz="940" dirty="0"/>
          </a:p>
          <a:p>
            <a:pPr indent="0" marL="0">
              <a:buNone/>
            </a:pPr>
            <a:r>
              <a:rPr lang="zh-TW" altLang="en-US" sz="940" b="1" dirty="0">
                <a:solidFill>
                  <a:srgbClr val="10AD9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Harness Engineering</a:t>
            </a:r>
            <a:endParaRPr lang="zh-TW" sz="940" dirty="0"/>
          </a:p>
        </p:txBody>
      </p:sp>
      <p:sp>
        <p:nvSpPr>
          <p:cNvPr id="32" name="Connector 27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D8E3DF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594360" y="6574536"/>
            <a:ext cx="9875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810" dirty="0">
                <a:solidFill>
                  <a:srgbClr val="6A82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實際產品截圖・離線情境示範</a:t>
            </a:r>
            <a:endParaRPr lang="zh-TW" sz="810" dirty="0"/>
          </a:p>
        </p:txBody>
      </p:sp>
      <p:sp>
        <p:nvSpPr>
          <p:cNvPr id="34" name="Text 29"/>
          <p:cNvSpPr/>
          <p:nvPr/>
        </p:nvSpPr>
        <p:spPr>
          <a:xfrm>
            <a:off x="10424160" y="6556248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850" dirty="0">
                <a:solidFill>
                  <a:srgbClr val="6A82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00:30–00:55</a:t>
            </a:r>
            <a:endParaRPr lang="zh-TW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1"/>
          <p:cNvSpPr/>
          <p:nvPr/>
        </p:nvSpPr>
        <p:spPr>
          <a:xfrm>
            <a:off x="603504" y="292608"/>
            <a:ext cx="0" cy="219456"/>
          </a:xfrm>
          <a:prstGeom prst="line">
            <a:avLst/>
          </a:prstGeom>
          <a:noFill/>
          <a:ln w="20320">
            <a:solidFill>
              <a:srgbClr val="10AD9C"/>
            </a:solidFill>
            <a:prstDash val="solid"/>
          </a:ln>
        </p:spPr>
      </p:sp>
      <p:sp>
        <p:nvSpPr>
          <p:cNvPr id="3" name="Connector 2"/>
          <p:cNvSpPr/>
          <p:nvPr/>
        </p:nvSpPr>
        <p:spPr>
          <a:xfrm flipH="1" flipV="1">
            <a:off x="502920" y="301752"/>
            <a:ext cx="100584" cy="73152"/>
          </a:xfrm>
          <a:prstGeom prst="line">
            <a:avLst/>
          </a:prstGeom>
          <a:noFill/>
          <a:ln w="20320">
            <a:solidFill>
              <a:srgbClr val="10AD9C"/>
            </a:solidFill>
            <a:prstDash val="solid"/>
          </a:ln>
        </p:spPr>
      </p:sp>
      <p:sp>
        <p:nvSpPr>
          <p:cNvPr id="4" name="Connector 3"/>
          <p:cNvSpPr/>
          <p:nvPr/>
        </p:nvSpPr>
        <p:spPr>
          <a:xfrm flipV="1">
            <a:off x="603504" y="265176"/>
            <a:ext cx="118872" cy="109728"/>
          </a:xfrm>
          <a:prstGeom prst="line">
            <a:avLst/>
          </a:prstGeom>
          <a:noFill/>
          <a:ln w="20320">
            <a:solidFill>
              <a:srgbClr val="10AD9C"/>
            </a:solidFill>
            <a:prstDash val="solid"/>
          </a:ln>
        </p:spPr>
      </p:sp>
      <p:sp>
        <p:nvSpPr>
          <p:cNvPr id="5" name="Circle 4"/>
          <p:cNvSpPr/>
          <p:nvPr/>
        </p:nvSpPr>
        <p:spPr>
          <a:xfrm>
            <a:off x="466344" y="246888"/>
            <a:ext cx="100584" cy="100584"/>
          </a:xfrm>
          <a:prstGeom prst="ellipse">
            <a:avLst/>
          </a:prstGeom>
          <a:solidFill>
            <a:srgbClr val="10AD9C"/>
          </a:solidFill>
          <a:ln w="12700">
            <a:solidFill>
              <a:srgbClr val="10AD9C"/>
            </a:solidFill>
            <a:prstDash val="solid"/>
          </a:ln>
        </p:spPr>
      </p:sp>
      <p:sp>
        <p:nvSpPr>
          <p:cNvPr id="6" name="Circle 5"/>
          <p:cNvSpPr/>
          <p:nvPr/>
        </p:nvSpPr>
        <p:spPr>
          <a:xfrm>
            <a:off x="685800" y="210312"/>
            <a:ext cx="109728" cy="109728"/>
          </a:xfrm>
          <a:prstGeom prst="ellipse">
            <a:avLst/>
          </a:prstGeom>
          <a:solidFill>
            <a:srgbClr val="10AD9C"/>
          </a:solidFill>
          <a:ln w="12700">
            <a:solidFill>
              <a:srgbClr val="10AD9C"/>
            </a:solidFill>
            <a:prstDash val="solid"/>
          </a:ln>
        </p:spPr>
      </p:sp>
      <p:sp>
        <p:nvSpPr>
          <p:cNvPr id="7" name="Text 6"/>
          <p:cNvSpPr/>
          <p:nvPr/>
        </p:nvSpPr>
        <p:spPr>
          <a:xfrm>
            <a:off x="841248" y="2011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b="1" dirty="0">
                <a:solidFill>
                  <a:srgbClr val="143B4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Fellow 學伴</a:t>
            </a:r>
            <a:endParaRPr lang="zh-TW" sz="1300" dirty="0"/>
          </a:p>
        </p:txBody>
      </p:sp>
      <p:sp>
        <p:nvSpPr>
          <p:cNvPr id="8" name="Text 7"/>
          <p:cNvSpPr/>
          <p:nvPr/>
        </p:nvSpPr>
        <p:spPr>
          <a:xfrm>
            <a:off x="2441448" y="22860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920" spc="125" kern="0" dirty="0">
                <a:solidFill>
                  <a:srgbClr val="6A82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STUDENT &amp; FAMILY DEMO / 02</a:t>
            </a:r>
            <a:endParaRPr lang="zh-TW" sz="920" dirty="0"/>
          </a:p>
        </p:txBody>
      </p:sp>
      <p:sp>
        <p:nvSpPr>
          <p:cNvPr id="9" name="Text 8"/>
          <p:cNvSpPr/>
          <p:nvPr/>
        </p:nvSpPr>
        <p:spPr>
          <a:xfrm>
            <a:off x="10744200" y="228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920" dirty="0">
                <a:solidFill>
                  <a:srgbClr val="6A82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 / 06</a:t>
            </a:r>
            <a:endParaRPr lang="zh-TW" sz="920" dirty="0"/>
          </a:p>
        </p:txBody>
      </p:sp>
      <p:sp>
        <p:nvSpPr>
          <p:cNvPr id="10" name="Text 9"/>
          <p:cNvSpPr/>
          <p:nvPr/>
        </p:nvSpPr>
        <p:spPr>
          <a:xfrm>
            <a:off x="594360" y="804672"/>
            <a:ext cx="11018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3050" b="1" dirty="0">
                <a:solidFill>
                  <a:srgbClr val="143B4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有些學習問題，不能只靠補習解決。</a:t>
            </a:r>
            <a:endParaRPr lang="zh-TW" sz="3050" dirty="0"/>
          </a:p>
        </p:txBody>
      </p:sp>
      <p:sp>
        <p:nvSpPr>
          <p:cNvPr id="11" name="Shape 10"/>
          <p:cNvSpPr/>
          <p:nvPr/>
        </p:nvSpPr>
        <p:spPr>
          <a:xfrm>
            <a:off x="649224" y="1783080"/>
            <a:ext cx="8366760" cy="4704588"/>
          </a:xfrm>
          <a:prstGeom prst="roundRect">
            <a:avLst>
              <a:gd name="adj" fmla="val 2721"/>
            </a:avLst>
          </a:prstGeom>
          <a:solidFill>
            <a:srgbClr val="E4EAE6"/>
          </a:solidFill>
          <a:ln w="12700">
            <a:solidFill>
              <a:srgbClr val="E4EAE6"/>
            </a:solidFill>
            <a:prstDash val="solid"/>
          </a:ln>
        </p:spPr>
      </p:sp>
      <p:sp>
        <p:nvSpPr>
          <p:cNvPr id="12" name="DEMO_FRAME"/>
          <p:cNvSpPr/>
          <p:nvPr/>
        </p:nvSpPr>
        <p:spPr>
          <a:xfrm>
            <a:off x="603504" y="1719072"/>
            <a:ext cx="8366760" cy="4704588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8890">
            <a:solidFill>
              <a:srgbClr val="D8E3DF"/>
            </a:solidFill>
            <a:prstDash val="solid"/>
          </a:ln>
        </p:spPr>
      </p:sp>
      <p:sp>
        <p:nvSpPr>
          <p:cNvPr id="13" name="Circle 11"/>
          <p:cNvSpPr/>
          <p:nvPr/>
        </p:nvSpPr>
        <p:spPr>
          <a:xfrm>
            <a:off x="768096" y="1865376"/>
            <a:ext cx="54864" cy="54864"/>
          </a:xfrm>
          <a:prstGeom prst="ellipse">
            <a:avLst/>
          </a:prstGeom>
          <a:solidFill>
            <a:srgbClr val="10AD9C"/>
          </a:solidFill>
          <a:ln w="12700">
            <a:solidFill>
              <a:srgbClr val="10AD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1792224"/>
            <a:ext cx="7781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900" spc="80" kern="0" dirty="0">
                <a:solidFill>
                  <a:srgbClr val="6A82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FAMILY SUPPORT DEMO   /   辨識需求，找到下一步</a:t>
            </a:r>
            <a:endParaRPr lang="zh-TW" sz="900" dirty="0"/>
          </a:p>
        </p:txBody>
      </p:sp>
      <p:sp>
        <p:nvSpPr>
          <p:cNvPr id="15" name="Connector 13"/>
          <p:cNvSpPr/>
          <p:nvPr/>
        </p:nvSpPr>
        <p:spPr>
          <a:xfrm>
            <a:off x="749808" y="2084832"/>
            <a:ext cx="8074152" cy="0"/>
          </a:xfrm>
          <a:prstGeom prst="line">
            <a:avLst/>
          </a:prstGeom>
          <a:noFill/>
          <a:ln w="6350">
            <a:solidFill>
              <a:srgbClr val="D8E3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" y="2276856"/>
            <a:ext cx="960120" cy="274320"/>
          </a:xfrm>
          <a:prstGeom prst="roundRect">
            <a:avLst>
              <a:gd name="adj" fmla="val 46667"/>
            </a:avLst>
          </a:prstGeom>
          <a:solidFill>
            <a:srgbClr val="E7F0F7"/>
          </a:solidFill>
          <a:ln w="12700">
            <a:solidFill>
              <a:srgbClr val="E7F0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276856"/>
            <a:ext cx="813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397EA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學生說</a:t>
            </a:r>
            <a:endParaRPr lang="zh-TW" sz="1000" dirty="0"/>
          </a:p>
        </p:txBody>
      </p:sp>
      <p:sp>
        <p:nvSpPr>
          <p:cNvPr id="18" name="Text 16"/>
          <p:cNvSpPr/>
          <p:nvPr/>
        </p:nvSpPr>
        <p:spPr>
          <a:xfrm>
            <a:off x="950976" y="2761488"/>
            <a:ext cx="43891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200" b="1" dirty="0">
                <a:solidFill>
                  <a:srgbClr val="143B4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「颱風後，家裡的收成</a:t>
            </a:r>
            <a:endParaRPr lang="zh-TW" sz="2200" dirty="0"/>
          </a:p>
          <a:p>
            <a:pPr indent="0" marL="0">
              <a:buNone/>
            </a:pPr>
            <a:r>
              <a:rPr lang="zh-TW" altLang="en-US" sz="2200" b="1" dirty="0">
                <a:solidFill>
                  <a:srgbClr val="143B4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變差了。爸媽很擔心，</a:t>
            </a:r>
            <a:endParaRPr lang="zh-TW" sz="2200" dirty="0"/>
          </a:p>
          <a:p>
            <a:pPr indent="0" marL="0">
              <a:buNone/>
            </a:pPr>
            <a:r>
              <a:rPr lang="zh-TW" altLang="en-US" sz="2200" b="1" dirty="0">
                <a:solidFill>
                  <a:srgbClr val="143B4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我也不知道該怎麼辦。」</a:t>
            </a:r>
            <a:endParaRPr lang="zh-TW" sz="2200" dirty="0"/>
          </a:p>
        </p:txBody>
      </p:sp>
      <p:sp>
        <p:nvSpPr>
          <p:cNvPr id="19" name="Connector 17"/>
          <p:cNvSpPr/>
          <p:nvPr/>
        </p:nvSpPr>
        <p:spPr>
          <a:xfrm>
            <a:off x="978408" y="4242816"/>
            <a:ext cx="466344" cy="0"/>
          </a:xfrm>
          <a:prstGeom prst="line">
            <a:avLst/>
          </a:prstGeom>
          <a:noFill/>
          <a:ln w="30480">
            <a:solidFill>
              <a:srgbClr val="C882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498848"/>
            <a:ext cx="4489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b="1" dirty="0">
                <a:solidFill>
                  <a:srgbClr val="C8823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釐清：農業災損／經濟需求</a:t>
            </a:r>
            <a:endParaRPr lang="zh-TW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5038344"/>
            <a:ext cx="4416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dirty="0">
                <a:solidFill>
                  <a:srgbClr val="6A82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可能的資源  →  資格與文件  →  求助窗口</a:t>
            </a:r>
            <a:endParaRPr lang="zh-TW" sz="1400" dirty="0"/>
          </a:p>
        </p:txBody>
      </p:sp>
      <p:sp>
        <p:nvSpPr>
          <p:cNvPr id="22" name="Shape 20"/>
          <p:cNvSpPr/>
          <p:nvPr/>
        </p:nvSpPr>
        <p:spPr>
          <a:xfrm>
            <a:off x="6323076" y="2235708"/>
            <a:ext cx="1835799" cy="3877056"/>
          </a:xfrm>
          <a:prstGeom prst="roundRect">
            <a:avLst>
              <a:gd name="adj" fmla="val 5977"/>
            </a:avLst>
          </a:prstGeom>
          <a:solidFill>
            <a:srgbClr val="143B43"/>
          </a:solidFill>
          <a:ln w="12700">
            <a:solidFill>
              <a:srgbClr val="143B43"/>
            </a:solidFill>
            <a:prstDash val="solid"/>
          </a:ln>
        </p:spPr>
      </p:sp>
      <p:pic>
        <p:nvPicPr>
          <p:cNvPr id="23" name="DEMO_family-agriculture.png" descr="family-agricul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4" y="2276856"/>
            <a:ext cx="1753503" cy="3794760"/>
          </a:xfrm>
          <a:prstGeom prst="rect">
            <a:avLst/>
          </a:prstGeom>
        </p:spPr>
      </p:pic>
      <p:sp>
        <p:nvSpPr>
          <p:cNvPr id="24" name="Connector 21"/>
          <p:cNvSpPr/>
          <p:nvPr/>
        </p:nvSpPr>
        <p:spPr>
          <a:xfrm>
            <a:off x="5202936" y="3785616"/>
            <a:ext cx="667512" cy="0"/>
          </a:xfrm>
          <a:prstGeom prst="line">
            <a:avLst/>
          </a:prstGeom>
          <a:noFill/>
          <a:ln w="21590">
            <a:solidFill>
              <a:srgbClr val="10AD9C"/>
            </a:solidFill>
            <a:prstDash val="solid"/>
            <a:tailEnd type="triangle"/>
          </a:ln>
        </p:spPr>
      </p:sp>
      <p:sp>
        <p:nvSpPr>
          <p:cNvPr id="25" name="Connector 22"/>
          <p:cNvSpPr/>
          <p:nvPr/>
        </p:nvSpPr>
        <p:spPr>
          <a:xfrm>
            <a:off x="9262872" y="1920240"/>
            <a:ext cx="402336" cy="0"/>
          </a:xfrm>
          <a:prstGeom prst="line">
            <a:avLst/>
          </a:prstGeom>
          <a:noFill/>
          <a:ln w="38100">
            <a:solidFill>
              <a:srgbClr val="C8823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62872" y="2139696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00" b="1" dirty="0">
                <a:solidFill>
                  <a:srgbClr val="C8823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家庭資源，也是教育支持</a:t>
            </a:r>
            <a:endParaRPr lang="zh-TW" sz="1100" dirty="0"/>
          </a:p>
        </p:txBody>
      </p:sp>
      <p:sp>
        <p:nvSpPr>
          <p:cNvPr id="27" name="Text 24"/>
          <p:cNvSpPr/>
          <p:nvPr/>
        </p:nvSpPr>
        <p:spPr>
          <a:xfrm>
            <a:off x="9262872" y="2660904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TW" altLang="en-US" sz="2400" b="1" dirty="0">
                <a:solidFill>
                  <a:srgbClr val="143B4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先接住生活</a:t>
            </a:r>
            <a:endParaRPr lang="zh-TW" sz="2400" dirty="0"/>
          </a:p>
          <a:p>
            <a:pPr indent="0" marL="0">
              <a:lnSpc>
                <a:spcPct val="115000"/>
              </a:lnSpc>
              <a:buNone/>
            </a:pPr>
            <a:r>
              <a:rPr lang="zh-TW" altLang="en-US" sz="2400" b="1" dirty="0">
                <a:solidFill>
                  <a:srgbClr val="143B4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的焦慮，</a:t>
            </a:r>
            <a:endParaRPr lang="zh-TW" sz="2400" dirty="0"/>
          </a:p>
          <a:p>
            <a:pPr indent="0" marL="0">
              <a:lnSpc>
                <a:spcPct val="115000"/>
              </a:lnSpc>
              <a:buNone/>
            </a:pPr>
            <a:r>
              <a:rPr lang="zh-TW" altLang="en-US" sz="2400" b="1" dirty="0">
                <a:solidFill>
                  <a:srgbClr val="143B4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才有重新專心</a:t>
            </a:r>
            <a:endParaRPr lang="zh-TW" sz="2400" dirty="0"/>
          </a:p>
          <a:p>
            <a:pPr indent="0" marL="0">
              <a:lnSpc>
                <a:spcPct val="115000"/>
              </a:lnSpc>
              <a:buNone/>
            </a:pPr>
            <a:r>
              <a:rPr lang="zh-TW" altLang="en-US" sz="2400" b="1" dirty="0">
                <a:solidFill>
                  <a:srgbClr val="143B4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的可能。</a:t>
            </a:r>
            <a:endParaRPr lang="zh-TW" sz="2400" dirty="0"/>
          </a:p>
        </p:txBody>
      </p:sp>
      <p:sp>
        <p:nvSpPr>
          <p:cNvPr id="28" name="Text 25"/>
          <p:cNvSpPr/>
          <p:nvPr/>
        </p:nvSpPr>
        <p:spPr>
          <a:xfrm>
            <a:off x="9262872" y="482803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20" dirty="0">
                <a:solidFill>
                  <a:srgbClr val="6A82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讓孩子與家長一起，</a:t>
            </a:r>
            <a:endParaRPr lang="zh-TW" sz="1220" dirty="0"/>
          </a:p>
          <a:p>
            <a:pPr indent="0" marL="0">
              <a:buNone/>
            </a:pPr>
            <a:r>
              <a:rPr lang="zh-TW" altLang="en-US" sz="1220" dirty="0">
                <a:solidFill>
                  <a:srgbClr val="6A82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知道下一步可以找誰。</a:t>
            </a:r>
            <a:endParaRPr lang="zh-TW" sz="1220" dirty="0"/>
          </a:p>
        </p:txBody>
      </p:sp>
      <p:sp>
        <p:nvSpPr>
          <p:cNvPr id="29" name="Connector 26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D8E3D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6574536"/>
            <a:ext cx="9875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810" dirty="0">
                <a:solidFill>
                  <a:srgbClr val="6A82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實際產品截圖・政策為示範資料；申請資格與窗口需確認</a:t>
            </a:r>
            <a:endParaRPr lang="zh-TW" sz="810" dirty="0"/>
          </a:p>
        </p:txBody>
      </p:sp>
      <p:sp>
        <p:nvSpPr>
          <p:cNvPr id="31" name="Text 28"/>
          <p:cNvSpPr/>
          <p:nvPr/>
        </p:nvSpPr>
        <p:spPr>
          <a:xfrm>
            <a:off x="10424160" y="6556248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850" dirty="0">
                <a:solidFill>
                  <a:srgbClr val="6A82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00:55–01:15</a:t>
            </a:r>
            <a:endParaRPr lang="zh-TW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1"/>
          <p:cNvSpPr/>
          <p:nvPr/>
        </p:nvSpPr>
        <p:spPr>
          <a:xfrm>
            <a:off x="603504" y="292608"/>
            <a:ext cx="0" cy="219456"/>
          </a:xfrm>
          <a:prstGeom prst="line">
            <a:avLst/>
          </a:prstGeom>
          <a:noFill/>
          <a:ln w="20320">
            <a:solidFill>
              <a:srgbClr val="10AD9C"/>
            </a:solidFill>
            <a:prstDash val="solid"/>
          </a:ln>
        </p:spPr>
      </p:sp>
      <p:sp>
        <p:nvSpPr>
          <p:cNvPr id="3" name="Connector 2"/>
          <p:cNvSpPr/>
          <p:nvPr/>
        </p:nvSpPr>
        <p:spPr>
          <a:xfrm flipH="1" flipV="1">
            <a:off x="502920" y="301752"/>
            <a:ext cx="100584" cy="73152"/>
          </a:xfrm>
          <a:prstGeom prst="line">
            <a:avLst/>
          </a:prstGeom>
          <a:noFill/>
          <a:ln w="20320">
            <a:solidFill>
              <a:srgbClr val="10AD9C"/>
            </a:solidFill>
            <a:prstDash val="solid"/>
          </a:ln>
        </p:spPr>
      </p:sp>
      <p:sp>
        <p:nvSpPr>
          <p:cNvPr id="4" name="Connector 3"/>
          <p:cNvSpPr/>
          <p:nvPr/>
        </p:nvSpPr>
        <p:spPr>
          <a:xfrm flipV="1">
            <a:off x="603504" y="265176"/>
            <a:ext cx="118872" cy="109728"/>
          </a:xfrm>
          <a:prstGeom prst="line">
            <a:avLst/>
          </a:prstGeom>
          <a:noFill/>
          <a:ln w="20320">
            <a:solidFill>
              <a:srgbClr val="10AD9C"/>
            </a:solidFill>
            <a:prstDash val="solid"/>
          </a:ln>
        </p:spPr>
      </p:sp>
      <p:sp>
        <p:nvSpPr>
          <p:cNvPr id="5" name="Circle 4"/>
          <p:cNvSpPr/>
          <p:nvPr/>
        </p:nvSpPr>
        <p:spPr>
          <a:xfrm>
            <a:off x="466344" y="246888"/>
            <a:ext cx="100584" cy="100584"/>
          </a:xfrm>
          <a:prstGeom prst="ellipse">
            <a:avLst/>
          </a:prstGeom>
          <a:solidFill>
            <a:srgbClr val="10AD9C"/>
          </a:solidFill>
          <a:ln w="12700">
            <a:solidFill>
              <a:srgbClr val="10AD9C"/>
            </a:solidFill>
            <a:prstDash val="solid"/>
          </a:ln>
        </p:spPr>
      </p:sp>
      <p:sp>
        <p:nvSpPr>
          <p:cNvPr id="6" name="Circle 5"/>
          <p:cNvSpPr/>
          <p:nvPr/>
        </p:nvSpPr>
        <p:spPr>
          <a:xfrm>
            <a:off x="685800" y="210312"/>
            <a:ext cx="109728" cy="109728"/>
          </a:xfrm>
          <a:prstGeom prst="ellipse">
            <a:avLst/>
          </a:prstGeom>
          <a:solidFill>
            <a:srgbClr val="10AD9C"/>
          </a:solidFill>
          <a:ln w="12700">
            <a:solidFill>
              <a:srgbClr val="10AD9C"/>
            </a:solidFill>
            <a:prstDash val="solid"/>
          </a:ln>
        </p:spPr>
      </p:sp>
      <p:sp>
        <p:nvSpPr>
          <p:cNvPr id="7" name="Text 6"/>
          <p:cNvSpPr/>
          <p:nvPr/>
        </p:nvSpPr>
        <p:spPr>
          <a:xfrm>
            <a:off x="841248" y="2011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b="1" dirty="0">
                <a:solidFill>
                  <a:srgbClr val="143B4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Fellow 學伴</a:t>
            </a:r>
            <a:endParaRPr lang="zh-TW" sz="1300" dirty="0"/>
          </a:p>
        </p:txBody>
      </p:sp>
      <p:sp>
        <p:nvSpPr>
          <p:cNvPr id="8" name="Text 7"/>
          <p:cNvSpPr/>
          <p:nvPr/>
        </p:nvSpPr>
        <p:spPr>
          <a:xfrm>
            <a:off x="2441448" y="22860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920" spc="125" kern="0" dirty="0">
                <a:solidFill>
                  <a:srgbClr val="6A82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TEACHER DASHBOARD</a:t>
            </a:r>
            <a:endParaRPr lang="zh-TW" sz="920" dirty="0"/>
          </a:p>
        </p:txBody>
      </p:sp>
      <p:sp>
        <p:nvSpPr>
          <p:cNvPr id="9" name="Text 8"/>
          <p:cNvSpPr/>
          <p:nvPr/>
        </p:nvSpPr>
        <p:spPr>
          <a:xfrm>
            <a:off x="10744200" y="228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920" dirty="0">
                <a:solidFill>
                  <a:srgbClr val="6A82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 / 06</a:t>
            </a:r>
            <a:endParaRPr lang="zh-TW" sz="920" dirty="0"/>
          </a:p>
        </p:txBody>
      </p:sp>
      <p:sp>
        <p:nvSpPr>
          <p:cNvPr id="10" name="Text 9"/>
          <p:cNvSpPr/>
          <p:nvPr/>
        </p:nvSpPr>
        <p:spPr>
          <a:xfrm>
            <a:off x="594360" y="804672"/>
            <a:ext cx="11018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3200" b="1" dirty="0">
                <a:solidFill>
                  <a:srgbClr val="143B4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老師需要更早知道，誰需要幫助。</a:t>
            </a:r>
            <a:endParaRPr lang="zh-TW" sz="3200" dirty="0"/>
          </a:p>
        </p:txBody>
      </p:sp>
      <p:sp>
        <p:nvSpPr>
          <p:cNvPr id="11" name="Shape 10"/>
          <p:cNvSpPr/>
          <p:nvPr/>
        </p:nvSpPr>
        <p:spPr>
          <a:xfrm>
            <a:off x="649224" y="1783080"/>
            <a:ext cx="8366760" cy="4704588"/>
          </a:xfrm>
          <a:prstGeom prst="roundRect">
            <a:avLst>
              <a:gd name="adj" fmla="val 2721"/>
            </a:avLst>
          </a:prstGeom>
          <a:solidFill>
            <a:srgbClr val="E4EAE6"/>
          </a:solidFill>
          <a:ln w="12700">
            <a:solidFill>
              <a:srgbClr val="E4EAE6"/>
            </a:solidFill>
            <a:prstDash val="solid"/>
          </a:ln>
        </p:spPr>
      </p:sp>
      <p:sp>
        <p:nvSpPr>
          <p:cNvPr id="12" name="DEMO_FRAME"/>
          <p:cNvSpPr/>
          <p:nvPr/>
        </p:nvSpPr>
        <p:spPr>
          <a:xfrm>
            <a:off x="603504" y="1719072"/>
            <a:ext cx="8366760" cy="4704588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8890">
            <a:solidFill>
              <a:srgbClr val="D8E3DF"/>
            </a:solidFill>
            <a:prstDash val="solid"/>
          </a:ln>
        </p:spPr>
      </p:sp>
      <p:sp>
        <p:nvSpPr>
          <p:cNvPr id="13" name="Circle 11"/>
          <p:cNvSpPr/>
          <p:nvPr/>
        </p:nvSpPr>
        <p:spPr>
          <a:xfrm>
            <a:off x="768096" y="1865376"/>
            <a:ext cx="54864" cy="54864"/>
          </a:xfrm>
          <a:prstGeom prst="ellipse">
            <a:avLst/>
          </a:prstGeom>
          <a:solidFill>
            <a:srgbClr val="10AD9C"/>
          </a:solidFill>
          <a:ln w="12700">
            <a:solidFill>
              <a:srgbClr val="10AD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1792224"/>
            <a:ext cx="7781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900" spc="80" kern="0" dirty="0">
                <a:solidFill>
                  <a:srgbClr val="6A82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TEACHER DEMO   /   從零散提問，到可行動的訊號</a:t>
            </a:r>
            <a:endParaRPr lang="zh-TW" sz="900" dirty="0"/>
          </a:p>
        </p:txBody>
      </p:sp>
      <p:sp>
        <p:nvSpPr>
          <p:cNvPr id="15" name="Connector 13"/>
          <p:cNvSpPr/>
          <p:nvPr/>
        </p:nvSpPr>
        <p:spPr>
          <a:xfrm>
            <a:off x="749808" y="2084832"/>
            <a:ext cx="8074152" cy="0"/>
          </a:xfrm>
          <a:prstGeom prst="line">
            <a:avLst/>
          </a:prstGeom>
          <a:noFill/>
          <a:ln w="6350">
            <a:solidFill>
              <a:srgbClr val="D8E3DF"/>
            </a:solidFill>
            <a:prstDash val="solid"/>
          </a:ln>
        </p:spPr>
      </p:sp>
      <p:pic>
        <p:nvPicPr>
          <p:cNvPr id="16" name="DEMO_teacher-overview.png" descr="教師總覽：學習提問、學習學生、需要關注、班級共同困難與需關注學生。">    </p:cNvPr>
          <p:cNvPicPr>
            <a:picLocks noChangeAspect="1"/>
          </p:cNvPicPr>
          <p:nvPr/>
        </p:nvPicPr>
        <p:blipFill>
          <a:blip r:embed="rId1"/>
          <a:srcRect l="17222" r="1528" t="17947" b="37912"/>
          <a:stretch/>
        </p:blipFill>
        <p:spPr>
          <a:xfrm>
            <a:off x="777240" y="2185416"/>
            <a:ext cx="8019288" cy="4096512"/>
          </a:xfrm>
          <a:prstGeom prst="rect">
            <a:avLst/>
          </a:prstGeom>
        </p:spPr>
      </p:pic>
      <p:sp>
        <p:nvSpPr>
          <p:cNvPr id="17" name="Connector 14"/>
          <p:cNvSpPr/>
          <p:nvPr/>
        </p:nvSpPr>
        <p:spPr>
          <a:xfrm>
            <a:off x="9262872" y="1920240"/>
            <a:ext cx="402336" cy="0"/>
          </a:xfrm>
          <a:prstGeom prst="line">
            <a:avLst/>
          </a:prstGeom>
          <a:noFill/>
          <a:ln w="38100">
            <a:solidFill>
              <a:srgbClr val="10AD9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262872" y="2139696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00" b="1" dirty="0">
                <a:solidFill>
                  <a:srgbClr val="10AD9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讓老師看見沒說出口的卡點</a:t>
            </a:r>
            <a:endParaRPr lang="zh-TW" sz="1100" dirty="0"/>
          </a:p>
        </p:txBody>
      </p:sp>
      <p:sp>
        <p:nvSpPr>
          <p:cNvPr id="19" name="Text 16"/>
          <p:cNvSpPr/>
          <p:nvPr/>
        </p:nvSpPr>
        <p:spPr>
          <a:xfrm>
            <a:off x="9262872" y="2660904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TW" altLang="en-US" sz="2400" b="1" dirty="0">
                <a:solidFill>
                  <a:srgbClr val="143B4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看見訊號，</a:t>
            </a:r>
            <a:endParaRPr lang="zh-TW" sz="2400" dirty="0"/>
          </a:p>
          <a:p>
            <a:pPr indent="0" marL="0">
              <a:lnSpc>
                <a:spcPct val="115000"/>
              </a:lnSpc>
              <a:buNone/>
            </a:pPr>
            <a:r>
              <a:rPr lang="zh-TW" altLang="en-US" sz="2400" b="1" dirty="0">
                <a:solidFill>
                  <a:srgbClr val="143B4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提早關心，</a:t>
            </a:r>
            <a:endParaRPr lang="zh-TW" sz="2400" dirty="0"/>
          </a:p>
          <a:p>
            <a:pPr indent="0" marL="0">
              <a:lnSpc>
                <a:spcPct val="115000"/>
              </a:lnSpc>
              <a:buNone/>
            </a:pPr>
            <a:r>
              <a:rPr lang="zh-TW" altLang="en-US" sz="2400" b="1" dirty="0">
                <a:solidFill>
                  <a:srgbClr val="143B4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調整教學。</a:t>
            </a:r>
            <a:endParaRPr lang="zh-TW" sz="2400" dirty="0"/>
          </a:p>
        </p:txBody>
      </p:sp>
      <p:sp>
        <p:nvSpPr>
          <p:cNvPr id="20" name="Text 17"/>
          <p:cNvSpPr/>
          <p:nvPr/>
        </p:nvSpPr>
        <p:spPr>
          <a:xfrm>
            <a:off x="9262872" y="482803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20" dirty="0">
                <a:solidFill>
                  <a:srgbClr val="6A82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縮短的，</a:t>
            </a:r>
            <a:endParaRPr lang="zh-TW" sz="1220" dirty="0"/>
          </a:p>
          <a:p>
            <a:pPr indent="0" marL="0">
              <a:buNone/>
            </a:pPr>
            <a:r>
              <a:rPr lang="zh-TW" altLang="en-US" sz="1220" dirty="0">
                <a:solidFill>
                  <a:srgbClr val="6A82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是老師與學生之間的距離。</a:t>
            </a:r>
            <a:endParaRPr lang="zh-TW" sz="1220" dirty="0"/>
          </a:p>
        </p:txBody>
      </p:sp>
      <p:sp>
        <p:nvSpPr>
          <p:cNvPr id="21" name="Shape 18"/>
          <p:cNvSpPr/>
          <p:nvPr/>
        </p:nvSpPr>
        <p:spPr>
          <a:xfrm>
            <a:off x="9244584" y="5852160"/>
            <a:ext cx="2368296" cy="265176"/>
          </a:xfrm>
          <a:prstGeom prst="roundRect">
            <a:avLst>
              <a:gd name="adj" fmla="val 48276"/>
            </a:avLst>
          </a:prstGeom>
          <a:solidFill>
            <a:srgbClr val="E4F4EE"/>
          </a:solidFill>
          <a:ln w="12700">
            <a:solidFill>
              <a:srgbClr val="E4F4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317736" y="5852160"/>
            <a:ext cx="22219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950" b="1" dirty="0">
                <a:solidFill>
                  <a:srgbClr val="143B4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經同意的家庭關懷轉介</a:t>
            </a:r>
            <a:endParaRPr lang="zh-TW" sz="950" dirty="0"/>
          </a:p>
        </p:txBody>
      </p:sp>
      <p:sp>
        <p:nvSpPr>
          <p:cNvPr id="23" name="Text 20"/>
          <p:cNvSpPr/>
          <p:nvPr/>
        </p:nvSpPr>
        <p:spPr>
          <a:xfrm>
            <a:off x="9253728" y="6181344"/>
            <a:ext cx="23225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800" dirty="0">
                <a:solidFill>
                  <a:srgbClr val="6A82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設計方向</a:t>
            </a:r>
            <a:endParaRPr lang="zh-TW" sz="800" dirty="0"/>
          </a:p>
        </p:txBody>
      </p:sp>
      <p:sp>
        <p:nvSpPr>
          <p:cNvPr id="24" name="Connector 21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D8E3D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4360" y="6574536"/>
            <a:ext cx="9875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810" dirty="0">
                <a:solidFill>
                  <a:srgbClr val="6A82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教師讀取授權的學習摘要・畫面為 Demo 示範資料</a:t>
            </a:r>
            <a:endParaRPr lang="zh-TW" sz="810" dirty="0"/>
          </a:p>
        </p:txBody>
      </p:sp>
      <p:sp>
        <p:nvSpPr>
          <p:cNvPr id="26" name="Text 23"/>
          <p:cNvSpPr/>
          <p:nvPr/>
        </p:nvSpPr>
        <p:spPr>
          <a:xfrm>
            <a:off x="10424160" y="6556248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850" dirty="0">
                <a:solidFill>
                  <a:srgbClr val="6A82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01:15–01:35</a:t>
            </a:r>
            <a:endParaRPr lang="zh-TW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1"/>
          <p:cNvSpPr/>
          <p:nvPr/>
        </p:nvSpPr>
        <p:spPr>
          <a:xfrm>
            <a:off x="603504" y="292608"/>
            <a:ext cx="0" cy="219456"/>
          </a:xfrm>
          <a:prstGeom prst="line">
            <a:avLst/>
          </a:prstGeom>
          <a:noFill/>
          <a:ln w="20320">
            <a:solidFill>
              <a:srgbClr val="10AD9C"/>
            </a:solidFill>
            <a:prstDash val="solid"/>
          </a:ln>
        </p:spPr>
      </p:sp>
      <p:sp>
        <p:nvSpPr>
          <p:cNvPr id="3" name="Connector 2"/>
          <p:cNvSpPr/>
          <p:nvPr/>
        </p:nvSpPr>
        <p:spPr>
          <a:xfrm flipH="1" flipV="1">
            <a:off x="502920" y="301752"/>
            <a:ext cx="100584" cy="73152"/>
          </a:xfrm>
          <a:prstGeom prst="line">
            <a:avLst/>
          </a:prstGeom>
          <a:noFill/>
          <a:ln w="20320">
            <a:solidFill>
              <a:srgbClr val="10AD9C"/>
            </a:solidFill>
            <a:prstDash val="solid"/>
          </a:ln>
        </p:spPr>
      </p:sp>
      <p:sp>
        <p:nvSpPr>
          <p:cNvPr id="4" name="Connector 3"/>
          <p:cNvSpPr/>
          <p:nvPr/>
        </p:nvSpPr>
        <p:spPr>
          <a:xfrm flipV="1">
            <a:off x="603504" y="265176"/>
            <a:ext cx="118872" cy="109728"/>
          </a:xfrm>
          <a:prstGeom prst="line">
            <a:avLst/>
          </a:prstGeom>
          <a:noFill/>
          <a:ln w="20320">
            <a:solidFill>
              <a:srgbClr val="10AD9C"/>
            </a:solidFill>
            <a:prstDash val="solid"/>
          </a:ln>
        </p:spPr>
      </p:sp>
      <p:sp>
        <p:nvSpPr>
          <p:cNvPr id="5" name="Circle 4"/>
          <p:cNvSpPr/>
          <p:nvPr/>
        </p:nvSpPr>
        <p:spPr>
          <a:xfrm>
            <a:off x="466344" y="246888"/>
            <a:ext cx="100584" cy="100584"/>
          </a:xfrm>
          <a:prstGeom prst="ellipse">
            <a:avLst/>
          </a:prstGeom>
          <a:solidFill>
            <a:srgbClr val="10AD9C"/>
          </a:solidFill>
          <a:ln w="12700">
            <a:solidFill>
              <a:srgbClr val="10AD9C"/>
            </a:solidFill>
            <a:prstDash val="solid"/>
          </a:ln>
        </p:spPr>
      </p:sp>
      <p:sp>
        <p:nvSpPr>
          <p:cNvPr id="6" name="Circle 5"/>
          <p:cNvSpPr/>
          <p:nvPr/>
        </p:nvSpPr>
        <p:spPr>
          <a:xfrm>
            <a:off x="685800" y="210312"/>
            <a:ext cx="109728" cy="109728"/>
          </a:xfrm>
          <a:prstGeom prst="ellipse">
            <a:avLst/>
          </a:prstGeom>
          <a:solidFill>
            <a:srgbClr val="10AD9C"/>
          </a:solidFill>
          <a:ln w="12700">
            <a:solidFill>
              <a:srgbClr val="10AD9C"/>
            </a:solidFill>
            <a:prstDash val="solid"/>
          </a:ln>
        </p:spPr>
      </p:sp>
      <p:sp>
        <p:nvSpPr>
          <p:cNvPr id="7" name="Text 6"/>
          <p:cNvSpPr/>
          <p:nvPr/>
        </p:nvSpPr>
        <p:spPr>
          <a:xfrm>
            <a:off x="841248" y="2011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b="1" dirty="0">
                <a:solidFill>
                  <a:srgbClr val="143B4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Fellow 學伴</a:t>
            </a:r>
            <a:endParaRPr lang="zh-TW" sz="1300" dirty="0"/>
          </a:p>
        </p:txBody>
      </p:sp>
      <p:sp>
        <p:nvSpPr>
          <p:cNvPr id="8" name="Text 7"/>
          <p:cNvSpPr/>
          <p:nvPr/>
        </p:nvSpPr>
        <p:spPr>
          <a:xfrm>
            <a:off x="2441448" y="22860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920" spc="125" kern="0" dirty="0">
                <a:solidFill>
                  <a:srgbClr val="6A82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GOVERNMENT DASHBOARD / THE CONNECTION</a:t>
            </a:r>
            <a:endParaRPr lang="zh-TW" sz="920" dirty="0"/>
          </a:p>
        </p:txBody>
      </p:sp>
      <p:sp>
        <p:nvSpPr>
          <p:cNvPr id="9" name="Text 8"/>
          <p:cNvSpPr/>
          <p:nvPr/>
        </p:nvSpPr>
        <p:spPr>
          <a:xfrm>
            <a:off x="10744200" y="228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920" dirty="0">
                <a:solidFill>
                  <a:srgbClr val="6A82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06 / 06</a:t>
            </a:r>
            <a:endParaRPr lang="zh-TW" sz="920" dirty="0"/>
          </a:p>
        </p:txBody>
      </p:sp>
      <p:sp>
        <p:nvSpPr>
          <p:cNvPr id="10" name="Text 9"/>
          <p:cNvSpPr/>
          <p:nvPr/>
        </p:nvSpPr>
        <p:spPr>
          <a:xfrm>
            <a:off x="594360" y="813816"/>
            <a:ext cx="11018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3000" b="1" dirty="0">
                <a:solidFill>
                  <a:srgbClr val="143B4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當一個問題重複出現，</a:t>
            </a:r>
            <a:endParaRPr lang="zh-TW" sz="3000" dirty="0"/>
          </a:p>
        </p:txBody>
      </p:sp>
      <p:sp>
        <p:nvSpPr>
          <p:cNvPr id="11" name="Text 10"/>
          <p:cNvSpPr/>
          <p:nvPr/>
        </p:nvSpPr>
        <p:spPr>
          <a:xfrm>
            <a:off x="594360" y="1380744"/>
            <a:ext cx="110185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3000" b="1" dirty="0">
                <a:solidFill>
                  <a:srgbClr val="143B4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它就不再只是個人問題。</a:t>
            </a:r>
            <a:endParaRPr lang="zh-TW" sz="3000" dirty="0"/>
          </a:p>
        </p:txBody>
      </p:sp>
      <p:sp>
        <p:nvSpPr>
          <p:cNvPr id="12" name="Shape 11"/>
          <p:cNvSpPr/>
          <p:nvPr/>
        </p:nvSpPr>
        <p:spPr>
          <a:xfrm>
            <a:off x="8732520" y="1435608"/>
            <a:ext cx="2871216" cy="356616"/>
          </a:xfrm>
          <a:prstGeom prst="roundRect">
            <a:avLst>
              <a:gd name="adj" fmla="val 35897"/>
            </a:avLst>
          </a:prstGeom>
          <a:solidFill>
            <a:srgbClr val="E4F4EE"/>
          </a:solidFill>
          <a:ln w="12700">
            <a:solidFill>
              <a:srgbClr val="E4F4EE"/>
            </a:solidFill>
            <a:prstDash val="solid"/>
          </a:ln>
        </p:spPr>
      </p:sp>
      <p:sp>
        <p:nvSpPr>
          <p:cNvPr id="13" name="Text 12"/>
          <p:cNvSpPr/>
          <p:nvPr/>
        </p:nvSpPr>
        <p:spPr>
          <a:xfrm>
            <a:off x="8805672" y="1435608"/>
            <a:ext cx="27249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43B4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匿名聚合，不含私人對話</a:t>
            </a:r>
            <a:endParaRPr lang="zh-TW" sz="1100" dirty="0"/>
          </a:p>
        </p:txBody>
      </p:sp>
      <p:sp>
        <p:nvSpPr>
          <p:cNvPr id="14" name="Shape 13"/>
          <p:cNvSpPr/>
          <p:nvPr/>
        </p:nvSpPr>
        <p:spPr>
          <a:xfrm>
            <a:off x="640080" y="2157984"/>
            <a:ext cx="7900416" cy="3621024"/>
          </a:xfrm>
          <a:prstGeom prst="roundRect">
            <a:avLst>
              <a:gd name="adj" fmla="val 3535"/>
            </a:avLst>
          </a:prstGeom>
          <a:solidFill>
            <a:srgbClr val="E4EAE6"/>
          </a:solidFill>
          <a:ln w="12700">
            <a:solidFill>
              <a:srgbClr val="E4EAE6"/>
            </a:solidFill>
            <a:prstDash val="solid"/>
          </a:ln>
        </p:spPr>
      </p:sp>
      <p:sp>
        <p:nvSpPr>
          <p:cNvPr id="15" name="DEMO_FRAME"/>
          <p:cNvSpPr/>
          <p:nvPr/>
        </p:nvSpPr>
        <p:spPr>
          <a:xfrm>
            <a:off x="594360" y="2093976"/>
            <a:ext cx="7900416" cy="3621024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8890">
            <a:solidFill>
              <a:srgbClr val="D8E3DF"/>
            </a:solidFill>
            <a:prstDash val="solid"/>
          </a:ln>
        </p:spPr>
      </p:sp>
      <p:sp>
        <p:nvSpPr>
          <p:cNvPr id="16" name="Circle 14"/>
          <p:cNvSpPr/>
          <p:nvPr/>
        </p:nvSpPr>
        <p:spPr>
          <a:xfrm>
            <a:off x="758952" y="2240280"/>
            <a:ext cx="54864" cy="54864"/>
          </a:xfrm>
          <a:prstGeom prst="ellipse">
            <a:avLst/>
          </a:prstGeom>
          <a:solidFill>
            <a:srgbClr val="10AD9C"/>
          </a:solidFill>
          <a:ln w="12700">
            <a:solidFill>
              <a:srgbClr val="10AD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" y="216712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900" spc="80" kern="0" dirty="0">
                <a:solidFill>
                  <a:srgbClr val="6A82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GOVERNMENT DEMO   /   地區 × 主題 × 趨勢</a:t>
            </a:r>
            <a:endParaRPr lang="zh-TW" sz="900" dirty="0"/>
          </a:p>
        </p:txBody>
      </p:sp>
      <p:sp>
        <p:nvSpPr>
          <p:cNvPr id="18" name="Connector 16"/>
          <p:cNvSpPr/>
          <p:nvPr/>
        </p:nvSpPr>
        <p:spPr>
          <a:xfrm>
            <a:off x="740664" y="2459736"/>
            <a:ext cx="7607808" cy="0"/>
          </a:xfrm>
          <a:prstGeom prst="line">
            <a:avLst/>
          </a:prstGeom>
          <a:noFill/>
          <a:ln w="6350">
            <a:solidFill>
              <a:srgbClr val="D8E3DF"/>
            </a:solidFill>
            <a:prstDash val="solid"/>
          </a:ln>
        </p:spPr>
      </p:sp>
      <p:pic>
        <p:nvPicPr>
          <p:cNvPr id="19" name="DEMO_government-overview.png" descr="政府匿名需求主題排行與高雄六區需求熱度概念圖；全部為示範資料。">    </p:cNvPr>
          <p:cNvPicPr>
            <a:picLocks noChangeAspect="1"/>
          </p:cNvPicPr>
          <p:nvPr/>
        </p:nvPicPr>
        <p:blipFill>
          <a:blip r:embed="rId1"/>
          <a:srcRect l="19028" r="3194" t="26208" b="41797"/>
          <a:stretch/>
        </p:blipFill>
        <p:spPr>
          <a:xfrm>
            <a:off x="758952" y="2514600"/>
            <a:ext cx="7571232" cy="3177213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95528" y="5751576"/>
            <a:ext cx="7726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70" b="1" dirty="0">
                <a:solidFill>
                  <a:srgbClr val="143B4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服務目標：需求出現 → 主動接觸 → 資源回到家庭</a:t>
            </a:r>
            <a:endParaRPr lang="zh-TW" sz="1370" dirty="0"/>
          </a:p>
        </p:txBody>
      </p:sp>
      <p:sp>
        <p:nvSpPr>
          <p:cNvPr id="21" name="Connector 18"/>
          <p:cNvSpPr/>
          <p:nvPr/>
        </p:nvSpPr>
        <p:spPr>
          <a:xfrm flipH="1">
            <a:off x="9107424" y="2834640"/>
            <a:ext cx="1060704" cy="1911096"/>
          </a:xfrm>
          <a:prstGeom prst="line">
            <a:avLst/>
          </a:prstGeom>
          <a:noFill/>
          <a:ln w="15240">
            <a:solidFill>
              <a:srgbClr val="10AD9C"/>
            </a:solidFill>
            <a:prstDash val="solid"/>
          </a:ln>
        </p:spPr>
      </p:sp>
      <p:sp>
        <p:nvSpPr>
          <p:cNvPr id="22" name="Connector 19"/>
          <p:cNvSpPr/>
          <p:nvPr/>
        </p:nvSpPr>
        <p:spPr>
          <a:xfrm>
            <a:off x="9107424" y="4745736"/>
            <a:ext cx="2084832" cy="0"/>
          </a:xfrm>
          <a:prstGeom prst="line">
            <a:avLst/>
          </a:prstGeom>
          <a:noFill/>
          <a:ln w="15240">
            <a:solidFill>
              <a:srgbClr val="10AD9C"/>
            </a:solidFill>
            <a:prstDash val="solid"/>
          </a:ln>
        </p:spPr>
      </p:sp>
      <p:sp>
        <p:nvSpPr>
          <p:cNvPr id="23" name="Connector 20"/>
          <p:cNvSpPr/>
          <p:nvPr/>
        </p:nvSpPr>
        <p:spPr>
          <a:xfrm flipH="1" flipV="1">
            <a:off x="10314432" y="3136392"/>
            <a:ext cx="877824" cy="1609344"/>
          </a:xfrm>
          <a:prstGeom prst="line">
            <a:avLst/>
          </a:prstGeom>
          <a:noFill/>
          <a:ln w="25400">
            <a:solidFill>
              <a:srgbClr val="143B43"/>
            </a:solidFill>
            <a:prstDash val="solid"/>
            <a:tailEnd type="triangle"/>
          </a:ln>
        </p:spPr>
      </p:sp>
      <p:sp>
        <p:nvSpPr>
          <p:cNvPr id="24" name="Connector 21"/>
          <p:cNvSpPr/>
          <p:nvPr/>
        </p:nvSpPr>
        <p:spPr>
          <a:xfrm flipV="1">
            <a:off x="10168128" y="2834640"/>
            <a:ext cx="0" cy="996696"/>
          </a:xfrm>
          <a:prstGeom prst="line">
            <a:avLst/>
          </a:prstGeom>
          <a:noFill/>
          <a:ln w="12700">
            <a:solidFill>
              <a:srgbClr val="10AD9C"/>
            </a:solidFill>
            <a:prstDash val="solid"/>
          </a:ln>
        </p:spPr>
      </p:sp>
      <p:sp>
        <p:nvSpPr>
          <p:cNvPr id="25" name="Connector 22"/>
          <p:cNvSpPr/>
          <p:nvPr/>
        </p:nvSpPr>
        <p:spPr>
          <a:xfrm flipH="1">
            <a:off x="9107424" y="3831336"/>
            <a:ext cx="1060704" cy="914400"/>
          </a:xfrm>
          <a:prstGeom prst="line">
            <a:avLst/>
          </a:prstGeom>
          <a:noFill/>
          <a:ln w="12700">
            <a:solidFill>
              <a:srgbClr val="10AD9C"/>
            </a:solidFill>
            <a:prstDash val="solid"/>
          </a:ln>
        </p:spPr>
      </p:sp>
      <p:sp>
        <p:nvSpPr>
          <p:cNvPr id="26" name="Connector 23"/>
          <p:cNvSpPr/>
          <p:nvPr/>
        </p:nvSpPr>
        <p:spPr>
          <a:xfrm>
            <a:off x="10168128" y="3831336"/>
            <a:ext cx="1024128" cy="914400"/>
          </a:xfrm>
          <a:prstGeom prst="line">
            <a:avLst/>
          </a:prstGeom>
          <a:noFill/>
          <a:ln w="12700">
            <a:solidFill>
              <a:srgbClr val="10AD9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162288" y="2468880"/>
            <a:ext cx="2002536" cy="621792"/>
          </a:xfrm>
          <a:prstGeom prst="roundRect">
            <a:avLst>
              <a:gd name="adj" fmla="val 19118"/>
            </a:avLst>
          </a:prstGeom>
          <a:solidFill>
            <a:srgbClr val="E4F4EE"/>
          </a:solidFill>
          <a:ln w="12700">
            <a:solidFill>
              <a:srgbClr val="E4F4E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162288" y="2542032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43B4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學生／家庭</a:t>
            </a:r>
            <a:endParaRPr lang="zh-TW" sz="1700" dirty="0"/>
          </a:p>
        </p:txBody>
      </p:sp>
      <p:sp>
        <p:nvSpPr>
          <p:cNvPr id="29" name="Shape 26"/>
          <p:cNvSpPr/>
          <p:nvPr/>
        </p:nvSpPr>
        <p:spPr>
          <a:xfrm>
            <a:off x="8595360" y="4507992"/>
            <a:ext cx="1042416" cy="594360"/>
          </a:xfrm>
          <a:prstGeom prst="roundRect">
            <a:avLst>
              <a:gd name="adj" fmla="val 18462"/>
            </a:avLst>
          </a:prstGeom>
          <a:solidFill>
            <a:srgbClr val="E4F4EE"/>
          </a:solidFill>
          <a:ln w="12700">
            <a:solidFill>
              <a:srgbClr val="E4F4E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595360" y="4599432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43B4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教師</a:t>
            </a:r>
            <a:endParaRPr lang="zh-TW" sz="1700" dirty="0"/>
          </a:p>
        </p:txBody>
      </p:sp>
      <p:sp>
        <p:nvSpPr>
          <p:cNvPr id="31" name="Shape 28"/>
          <p:cNvSpPr/>
          <p:nvPr/>
        </p:nvSpPr>
        <p:spPr>
          <a:xfrm>
            <a:off x="10680192" y="4507992"/>
            <a:ext cx="1042416" cy="594360"/>
          </a:xfrm>
          <a:prstGeom prst="roundRect">
            <a:avLst>
              <a:gd name="adj" fmla="val 18462"/>
            </a:avLst>
          </a:prstGeom>
          <a:solidFill>
            <a:srgbClr val="E4F4EE"/>
          </a:solidFill>
          <a:ln w="12700">
            <a:solidFill>
              <a:srgbClr val="E4F4E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680192" y="4599432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43B4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政府</a:t>
            </a:r>
            <a:endParaRPr lang="zh-TW" sz="1700" dirty="0"/>
          </a:p>
        </p:txBody>
      </p:sp>
      <p:sp>
        <p:nvSpPr>
          <p:cNvPr id="33" name="Circle 30"/>
          <p:cNvSpPr/>
          <p:nvPr/>
        </p:nvSpPr>
        <p:spPr>
          <a:xfrm>
            <a:off x="9674352" y="3392424"/>
            <a:ext cx="987552" cy="987552"/>
          </a:xfrm>
          <a:prstGeom prst="ellipse">
            <a:avLst/>
          </a:prstGeom>
          <a:solidFill>
            <a:srgbClr val="74DCC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720072" y="3566160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2700" b="1" dirty="0">
                <a:solidFill>
                  <a:srgbClr val="102E3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</a:t>
            </a:r>
            <a:endParaRPr lang="zh-TW" sz="2700" dirty="0"/>
          </a:p>
        </p:txBody>
      </p:sp>
      <p:sp>
        <p:nvSpPr>
          <p:cNvPr id="35" name="Text 32"/>
          <p:cNvSpPr/>
          <p:nvPr/>
        </p:nvSpPr>
        <p:spPr>
          <a:xfrm>
            <a:off x="9573768" y="4334256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910" dirty="0">
                <a:solidFill>
                  <a:srgbClr val="6A82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理解・媒合</a:t>
            </a:r>
            <a:endParaRPr lang="zh-TW" sz="910" dirty="0"/>
          </a:p>
        </p:txBody>
      </p:sp>
      <p:sp>
        <p:nvSpPr>
          <p:cNvPr id="36" name="Text 33"/>
          <p:cNvSpPr/>
          <p:nvPr/>
        </p:nvSpPr>
        <p:spPr>
          <a:xfrm>
            <a:off x="10863072" y="3547872"/>
            <a:ext cx="630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143B4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資源回流</a:t>
            </a:r>
            <a:endParaRPr lang="zh-TW" sz="1000" dirty="0"/>
          </a:p>
        </p:txBody>
      </p:sp>
      <p:sp>
        <p:nvSpPr>
          <p:cNvPr id="37" name="Text 34"/>
          <p:cNvSpPr/>
          <p:nvPr/>
        </p:nvSpPr>
        <p:spPr>
          <a:xfrm>
            <a:off x="8723376" y="5376672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80" b="1" dirty="0">
                <a:solidFill>
                  <a:srgbClr val="143B4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系統目標：孩子安心學習</a:t>
            </a:r>
            <a:endParaRPr lang="zh-TW" sz="1280" dirty="0"/>
          </a:p>
        </p:txBody>
      </p:sp>
      <p:sp>
        <p:nvSpPr>
          <p:cNvPr id="38" name="Connector 35"/>
          <p:cNvSpPr/>
          <p:nvPr/>
        </p:nvSpPr>
        <p:spPr>
          <a:xfrm>
            <a:off x="621792" y="6227064"/>
            <a:ext cx="10991088" cy="0"/>
          </a:xfrm>
          <a:prstGeom prst="line">
            <a:avLst/>
          </a:prstGeom>
          <a:noFill/>
          <a:ln w="7620">
            <a:solidFill>
              <a:srgbClr val="D8E3D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21792" y="6281928"/>
            <a:ext cx="11000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210" b="1" dirty="0">
                <a:solidFill>
                  <a:srgbClr val="143B4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讓資源找到孩子，而不是讓孩子自己尋找資源。</a:t>
            </a:r>
            <a:endParaRPr lang="zh-TW" sz="2210" dirty="0"/>
          </a:p>
        </p:txBody>
      </p:sp>
      <p:sp>
        <p:nvSpPr>
          <p:cNvPr id="40" name="Text 37"/>
          <p:cNvSpPr/>
          <p:nvPr/>
        </p:nvSpPr>
        <p:spPr>
          <a:xfrm>
            <a:off x="630936" y="6729984"/>
            <a:ext cx="9144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720" dirty="0">
                <a:solidFill>
                  <a:srgbClr val="6A828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實際產品截圖・匿名 Demo 資料；地圖為區域概念圖</a:t>
            </a:r>
            <a:endParaRPr lang="zh-TW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Fellow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Fellow 學伴｜讓每一個孩子，都能安心學習</dc:title>
  <dc:subject>6 頁・120 秒・偏鄉教育與家庭資源 Demo Pitch</dc:subject>
  <dc:creator>Fellow / FutureAI</dc:creator>
  <cp:lastModifiedBy>Fellow / FutureAI</cp:lastModifiedBy>
  <cp:revision>1</cp:revision>
  <dcterms:created xsi:type="dcterms:W3CDTF">2026-09-05T15:27:11Z</dcterms:created>
  <dcterms:modified xsi:type="dcterms:W3CDTF">2026-09-05T15:27:11Z</dcterms:modified>
</cp:coreProperties>
</file>